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4fbfdaf3024649" /><Relationship Type="http://schemas.openxmlformats.org/officeDocument/2006/relationships/extended-properties" Target="/docProps/app.xml" Id="R6c0797614952482d" /><Relationship Type="http://schemas.openxmlformats.org/officeDocument/2006/relationships/officeDocument" Target="/ppt/presentation.xml" Id="R55848ea2b1644d80" /></Relationships>
</file>

<file path=ppt/presentation.xml><?xml version="1.0" encoding="utf-8"?>
<p:presentation xmlns:p="http://schemas.openxmlformats.org/presentationml/2006/main">
  <p:sldMasterIdLst>
    <p:sldMasterId xmlns:r="http://schemas.openxmlformats.org/officeDocument/2006/relationships" id="2147483648" r:id="Rf6272c8b95ae4e80"/>
  </p:sldMasterIdLst>
  <p:notesMasterIdLst>
    <p:notesMasterId xmlns:r="http://schemas.openxmlformats.org/officeDocument/2006/relationships" r:id="R146f1954112c46aa"/>
  </p:notesMasterIdLst>
  <p:sldIdLst>
    <p:sldId xmlns:r="http://schemas.openxmlformats.org/officeDocument/2006/relationships" id="256" r:id="R6981e8c0cd524395"/>
    <p:sldId xmlns:r="http://schemas.openxmlformats.org/officeDocument/2006/relationships" id="257" r:id="R1604589c31414aac"/>
    <p:sldId xmlns:r="http://schemas.openxmlformats.org/officeDocument/2006/relationships" id="258" r:id="R14e6e9f6bd6a4a77"/>
    <p:sldId xmlns:r="http://schemas.openxmlformats.org/officeDocument/2006/relationships" id="259" r:id="R6b9bcc13de3c4641"/>
    <p:sldId xmlns:r="http://schemas.openxmlformats.org/officeDocument/2006/relationships" id="260" r:id="R92a16794374b4e2c"/>
    <p:sldId xmlns:r="http://schemas.openxmlformats.org/officeDocument/2006/relationships" id="261" r:id="Re29291ca45244d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b2f79ae0264b4c" /><Relationship Type="http://schemas.openxmlformats.org/officeDocument/2006/relationships/slideMaster" Target="/ppt/slideMasters/slideMaster1.xml" Id="Rf6272c8b95ae4e80" /><Relationship Type="http://schemas.openxmlformats.org/officeDocument/2006/relationships/notesMaster" Target="/ppt/notesMasters/notesMaster1.xml" Id="R146f1954112c46aa" /><Relationship Type="http://schemas.openxmlformats.org/officeDocument/2006/relationships/presProps" Target="/ppt/presProps.xml" Id="Rf410e8044d0649a9" /><Relationship Type="http://schemas.openxmlformats.org/officeDocument/2006/relationships/tableStyles" Target="/ppt/tableStyles.xml" Id="R4a86f74fa53e4edf" /><Relationship Type="http://schemas.openxmlformats.org/officeDocument/2006/relationships/slide" Target="/ppt/slides/slide1.xml" Id="R6981e8c0cd524395" /><Relationship Type="http://schemas.openxmlformats.org/officeDocument/2006/relationships/slide" Target="/ppt/slides/slide2.xml" Id="R1604589c31414aac" /><Relationship Type="http://schemas.openxmlformats.org/officeDocument/2006/relationships/slide" Target="/ppt/slides/slide3.xml" Id="R14e6e9f6bd6a4a77" /><Relationship Type="http://schemas.openxmlformats.org/officeDocument/2006/relationships/slide" Target="/ppt/slides/slide4.xml" Id="R6b9bcc13de3c4641" /><Relationship Type="http://schemas.openxmlformats.org/officeDocument/2006/relationships/slide" Target="/ppt/slides/slide5.xml" Id="R92a16794374b4e2c" /><Relationship Type="http://schemas.openxmlformats.org/officeDocument/2006/relationships/slide" Target="/ppt/slides/slide6.xml" Id="Re29291ca45244d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438e84497e4e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af0f40ec434dff" /><Relationship Type="http://schemas.openxmlformats.org/officeDocument/2006/relationships/notesMaster" Target="/ppt/notesMasters/notesMaster1.xml" Id="R7f329f035d7343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5ab61bf172480d" /><Relationship Type="http://schemas.openxmlformats.org/officeDocument/2006/relationships/notesMaster" Target="/ppt/notesMasters/notesMaster1.xml" Id="Rfff173c8e0a948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9ff3abfb674ead" /><Relationship Type="http://schemas.openxmlformats.org/officeDocument/2006/relationships/notesMaster" Target="/ppt/notesMasters/notesMaster1.xml" Id="R479c6d911cdb4b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b740261017471e" /><Relationship Type="http://schemas.openxmlformats.org/officeDocument/2006/relationships/notesMaster" Target="/ppt/notesMasters/notesMaster1.xml" Id="R7bc4ac47d4c948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ee9ba89a1249d7" /><Relationship Type="http://schemas.openxmlformats.org/officeDocument/2006/relationships/notesMaster" Target="/ppt/notesMasters/notesMaster1.xml" Id="Rcb46be465b9d45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cfc102bf7f4790" /><Relationship Type="http://schemas.openxmlformats.org/officeDocument/2006/relationships/notesMaster" Target="/ppt/notesMasters/notesMaster1.xml" Id="Re302aa913f6747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Capital X-Ray brings business and banking data together to ask whether financing indicators keep pace with economic activity. It helps regional banks, funds and policymakers select places for further investigation. Introduce the dashboard, then explain the scope. Source: Capital_X-Ray_PRD.md and capital-x-ray/app/page.tsx.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0:30–1:15. These are five provinces in one region, Lombardy. The hackathon plan selected this scope. The pipeline combines overlapping historical data for these provinces, three sectors and six years. One cluster means one province-sector combination, for example construction in Brescia. The five provinces are a prototype scope choice, and the project does not document statistical representativeness for all Lombardy. Loans and deposits come from Banca d’Italia STAFINRA and business indicators from Istat Frame SBS. Deposits remain province-level. Sources: Capital_X-Ray_PRD.md section 4, pipeline/build_dataset.py, web/data.json meta.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1:15–2:15. We build two relative scores on a 0–100 scale. Economic momentum combines turnover growth, growth in business establishments and employment growth. Financing support combines credit growth, deposit growth and a liquidity proxy. The financing score minus the economic score produces the gap. Negative gaps of at least 15 points trigger the underfinanced label. Positive gaps of at least 15 trigger the app’s overheated label. Financing surplus relative to economic momentum is the more precise interpretation of overheated. The thresholds and weights are prototype choices. Index points are different from percentages or euros. Neither label establishes unmet demand, excessive risk or causality. Sources: pipeline/build_dataset.py build(), capital-x-ray/app/page.tsx.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2:15–3:00. Construction in Brescia has economic momentum around 68 and financing support around 40. Its gap is −27, the deepest weighted deficit in this dataset. The gap uses unrounded scores, so subtracting the rounded numbers can differ by one point. Industry in Monza e della Brianza has scores of 17 and 77, giving a +60 financing surplus. Explain that these are screening signals. If showing the app, select Brescia Costruzioni and open Why is this highlighted. Sources: web/data.json cells brescia-costruzioni and monza-e-della-brianza-industria.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3:00–4:10. We use a regression trained on 90 province-sector-year observations. It models log loans using log turnover, log business establishments, sector and a year trend. Leave-one-cell-out validation holds out all six years of a cluster at a time. The stored R-squared is 0.92 on log lending. This does not mean 92 percent accuracy or an ability to predict repayment. Model scores shown for each cluster use the full-data fit. For example Varese construction has a six-year learned gap of −27.1 percent and z-score −1.91, the only flagged model anomaly. The actual and expected bars use 2020, so their ratio differs from the six-year learned gap. Gemini narrates the supplied scores and benchmark, with a template fallback when the API fails. Its instructions constrain numbers but cannot guarantee every statement. Sources: pipeline/train_model.py, web/model.json, capital-x-ray/app/api/explain/route.ts.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4:10–5:00. Demonstrate changing the objective from Underfinanced Areas to Growth and Diversification. Rules score all 15 clusters and select the top four. Diversification permits at most one selection per province. This allocator uses the weighted scores, not the regression gap, and its rationale is templated. The Low-Risk label is a proxy based on the chosen indicators, not a validated credit-risk prediction. The budget is hypothetical. Displayed allocations round independently and can differ from one million euros by one thousand euros, so avoid claiming exact budget reconciliation. Yield labels are illustrative and have no validated return model. Close: Capital X-Ray helps banks, funds and policymakers choose where to investigate further. Next steps include newer data and loan-demand and quality information. Source: capital-x-ray/app/page.tsx getSimulatorResult().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d2ba308e8f40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0aea91df5e4786" /><Relationship Type="http://schemas.openxmlformats.org/officeDocument/2006/relationships/slideLayout" Target="/ppt/slideLayouts/slideLayout1.xml" Id="R434f2452fd8947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4f2452fd8947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b23d99e8da4e17" /><Relationship Type="http://schemas.openxmlformats.org/officeDocument/2006/relationships/notesSlide" Target="/ppt/notesSlides/notesSlide1.xml" Id="Rfa6239f053c143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0a326588c5417b" /><Relationship Type="http://schemas.openxmlformats.org/officeDocument/2006/relationships/notesSlide" Target="/ppt/notesSlides/notesSlide2.xml" Id="R1bb016456a7a48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048f8da92fe4ddf" /><Relationship Type="http://schemas.openxmlformats.org/officeDocument/2006/relationships/notesSlide" Target="/ppt/notesSlides/notesSlide3.xml" Id="R319947762c3949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82fa85623742b8" /><Relationship Type="http://schemas.openxmlformats.org/officeDocument/2006/relationships/notesSlide" Target="/ppt/notesSlides/notesSlide4.xml" Id="R7a2c150886bb40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e7e12280d1462f" /><Relationship Type="http://schemas.openxmlformats.org/officeDocument/2006/relationships/notesSlide" Target="/ppt/notesSlides/notesSlide5.xml" Id="R9deeae73421f46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69bf63d01a49ca" /><Relationship Type="http://schemas.openxmlformats.org/officeDocument/2006/relationships/notesSlide" Target="/ppt/notesSlides/notesSlide6.xml" Id="Rc5ec9eacf564411f" /></Relationships>
</file>

<file path=ppt/slides/slide1.xml><?xml version="1.0" encoding="utf-8"?>
<p:sld xmlns:p="http://schemas.openxmlformats.org/presentationml/2006/main">
  <p:cSld>
    <p:bg>
      <p:bgPr>
        <a:solidFill xmlns:a="http://schemas.openxmlformats.org/drawingml/2006/main">
          <a:srgbClr val="0B1730"/>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3268B8F-9828-4DDB-A4F0-D0069BAA5361}"/>
              </a:ext>
            </a:extLst>
          </p:cNvPr>
          <p:cNvSpPr>
            <a:spLocks xmlns:a="http://schemas.openxmlformats.org/drawingml/2006/main" noGrp="1"/>
          </p:cNvSpPr>
          <p:nvPr/>
        </p:nvSpPr>
        <p:spPr>
          <a:xfrm xmlns:a="http://schemas.openxmlformats.org/drawingml/2006/main">
            <a:off x="685800" y="14668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Capital X-Ray</a:t>
            </a:r>
          </a:p>
        </p:txBody>
      </p:sp>
      <p:sp>
        <p:nvSpPr>
          <p:cNvPr id="2" name="">
            <a:extLst xmlns:a="http://schemas.openxmlformats.org/drawingml/2006/main">
              <a:ext uri="{FF2B5EF4-FFF2-40B4-BE49-F238E27FC236}">
                <a16:creationId xmlns:a16="http://schemas.microsoft.com/office/drawing/2014/main" id="{8CF5D519-4929-46CF-B023-8230D265D1FA}"/>
              </a:ext>
            </a:extLst>
          </p:cNvPr>
          <p:cNvSpPr>
            <a:spLocks xmlns:a="http://schemas.openxmlformats.org/drawingml/2006/main" noGrp="1"/>
          </p:cNvSpPr>
          <p:nvPr/>
        </p:nvSpPr>
        <p:spPr>
          <a:xfrm xmlns:a="http://schemas.openxmlformats.org/drawingml/2006/main">
            <a:off x="733425" y="2752725"/>
            <a:ext cx="10001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0">
                <a:solidFill>
                  <a:srgbClr val="45C4DE"/>
                </a:solidFill>
                <a:latin typeface="Arial"/>
                <a:ea typeface="Arial"/>
                <a:cs typeface="Arial"/>
              </a:defRPr>
            </a:pPr>
            <a:r>
              <a:rPr sz="3375" b="0">
                <a:solidFill>
                  <a:srgbClr val="45C4DE"/>
                </a:solidFill>
                <a:latin typeface="Arial"/>
                <a:ea typeface="Arial"/>
                <a:cs typeface="Arial"/>
              </a:rPr>
              <a:t>Economic momentum and financing</a:t>
            </a:r>
          </a:p>
          <a:p xmlns:a="http://schemas.openxmlformats.org/drawingml/2006/main">
            <a:pPr>
              <a:defRPr sz="3375" b="0">
                <a:solidFill>
                  <a:srgbClr val="45C4DE"/>
                </a:solidFill>
                <a:latin typeface="Arial"/>
                <a:ea typeface="Arial"/>
                <a:cs typeface="Arial"/>
              </a:defRPr>
            </a:pPr>
            <a:r>
              <a:rPr sz="3375" b="0">
                <a:solidFill>
                  <a:srgbClr val="45C4DE"/>
                </a:solidFill>
                <a:latin typeface="Arial"/>
                <a:ea typeface="Arial"/>
                <a:cs typeface="Arial"/>
              </a:rPr>
              <a:t>across Lombardy</a:t>
            </a:r>
          </a:p>
        </p:txBody>
      </p:sp>
      <p:sp>
        <p:nvSpPr>
          <p:cNvPr id="3" name="">
            <a:extLst xmlns:a="http://schemas.openxmlformats.org/drawingml/2006/main">
              <a:ext uri="{FF2B5EF4-FFF2-40B4-BE49-F238E27FC236}">
                <a16:creationId xmlns:a16="http://schemas.microsoft.com/office/drawing/2014/main" id="{B52DA1C2-0F0D-4216-AEA6-4765E26BAC99}"/>
              </a:ext>
            </a:extLst>
          </p:cNvPr>
          <p:cNvSpPr>
            <a:spLocks xmlns:a="http://schemas.openxmlformats.org/drawingml/2006/main" noGrp="1"/>
          </p:cNvSpPr>
          <p:nvPr/>
        </p:nvSpPr>
        <p:spPr>
          <a:xfrm xmlns:a="http://schemas.openxmlformats.org/drawingml/2006/main">
            <a:off x="742950" y="5267325"/>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5D0E0"/>
                </a:solidFill>
                <a:latin typeface="Arial"/>
                <a:ea typeface="Arial"/>
                <a:cs typeface="Arial"/>
              </a:defRPr>
            </a:pPr>
            <a:r>
              <a:rPr sz="2025" b="0">
                <a:solidFill>
                  <a:srgbClr val="C5D0E0"/>
                </a:solidFill>
                <a:latin typeface="Arial"/>
                <a:ea typeface="Arial"/>
                <a:cs typeface="Arial"/>
              </a:rPr>
              <a:t>A fintech prototype for banks, funds and policymakers</a:t>
            </a:r>
          </a:p>
        </p:txBody>
      </p:sp>
    </p:spTree>
    <p:extLst>
      <p:ext uri="{BB962C8B-B14F-4D97-AF65-F5344CB8AC3E}">
        <p14:creationId xmlns:p14="http://schemas.microsoft.com/office/powerpoint/2010/main" val="524136369"/>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662733-7E41-4BB3-9E29-4AEBF062DEEE}"/>
              </a:ext>
            </a:extLst>
          </p:cNvPr>
          <p:cNvSpPr>
            <a:spLocks xmlns:a="http://schemas.openxmlformats.org/drawingml/2006/main" noGrp="1"/>
          </p:cNvSpPr>
          <p:nvPr/>
        </p:nvSpPr>
        <p:spPr>
          <a:xfrm xmlns:a="http://schemas.openxmlformats.org/drawingml/2006/main">
            <a:off x="628650" y="4953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B1730"/>
                </a:solidFill>
                <a:latin typeface="Arial"/>
                <a:ea typeface="Arial"/>
                <a:cs typeface="Arial"/>
              </a:defRPr>
            </a:pPr>
            <a:r>
              <a:rPr sz="3300" b="1">
                <a:solidFill>
                  <a:srgbClr val="0B1730"/>
                </a:solidFill>
                <a:latin typeface="Arial"/>
                <a:ea typeface="Arial"/>
                <a:cs typeface="Arial"/>
              </a:rPr>
              <a:t>Five provinces within Lombardy</a:t>
            </a:r>
          </a:p>
        </p:txBody>
      </p:sp>
      <p:sp>
        <p:nvSpPr>
          <p:cNvPr id="2" name="">
            <a:extLst xmlns:a="http://schemas.openxmlformats.org/drawingml/2006/main">
              <a:ext uri="{FF2B5EF4-FFF2-40B4-BE49-F238E27FC236}">
                <a16:creationId xmlns:a16="http://schemas.microsoft.com/office/drawing/2014/main" id="{5CD5074F-4246-496B-99DF-33198B286A60}"/>
              </a:ext>
            </a:extLst>
          </p:cNvPr>
          <p:cNvSpPr>
            <a:spLocks xmlns:a="http://schemas.openxmlformats.org/drawingml/2006/main" noGrp="1"/>
          </p:cNvSpPr>
          <p:nvPr/>
        </p:nvSpPr>
        <p:spPr>
          <a:xfrm xmlns:a="http://schemas.openxmlformats.org/drawingml/2006/main">
            <a:off x="666750" y="18097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8CAB"/>
                </a:solidFill>
                <a:latin typeface="Arial"/>
                <a:ea typeface="Arial"/>
                <a:cs typeface="Arial"/>
              </a:defRPr>
            </a:pPr>
            <a:r>
              <a:rPr sz="5700" b="1">
                <a:solidFill>
                  <a:srgbClr val="008CAB"/>
                </a:solidFill>
                <a:latin typeface="Arial"/>
                <a:ea typeface="Arial"/>
                <a:cs typeface="Arial"/>
              </a:rPr>
              <a:t>5 × 3 = 15</a:t>
            </a:r>
          </a:p>
        </p:txBody>
      </p:sp>
      <p:sp>
        <p:nvSpPr>
          <p:cNvPr id="3" name="">
            <a:extLst xmlns:a="http://schemas.openxmlformats.org/drawingml/2006/main">
              <a:ext uri="{FF2B5EF4-FFF2-40B4-BE49-F238E27FC236}">
                <a16:creationId xmlns:a16="http://schemas.microsoft.com/office/drawing/2014/main" id="{87EE3D3F-5CB3-423E-BC30-9B478BC045DF}"/>
              </a:ext>
            </a:extLst>
          </p:cNvPr>
          <p:cNvSpPr>
            <a:spLocks xmlns:a="http://schemas.openxmlformats.org/drawingml/2006/main" noGrp="1"/>
          </p:cNvSpPr>
          <p:nvPr/>
        </p:nvSpPr>
        <p:spPr>
          <a:xfrm xmlns:a="http://schemas.openxmlformats.org/drawingml/2006/main">
            <a:off x="714375" y="2924175"/>
            <a:ext cx="590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4E6077"/>
                </a:solidFill>
                <a:latin typeface="Arial"/>
                <a:ea typeface="Arial"/>
                <a:cs typeface="Arial"/>
              </a:defRPr>
            </a:pPr>
            <a:r>
              <a:rPr sz="2100" b="0">
                <a:solidFill>
                  <a:srgbClr val="4E6077"/>
                </a:solidFill>
                <a:latin typeface="Arial"/>
                <a:ea typeface="Arial"/>
                <a:cs typeface="Arial"/>
              </a:rPr>
              <a:t>provinces × sectors = clusters</a:t>
            </a:r>
          </a:p>
        </p:txBody>
      </p:sp>
      <p:sp>
        <p:nvSpPr>
          <p:cNvPr id="4" name="">
            <a:extLst xmlns:a="http://schemas.openxmlformats.org/drawingml/2006/main">
              <a:ext uri="{FF2B5EF4-FFF2-40B4-BE49-F238E27FC236}">
                <a16:creationId xmlns:a16="http://schemas.microsoft.com/office/drawing/2014/main" id="{CB973465-17AB-4C55-8CB0-F78710FEC77C}"/>
              </a:ext>
            </a:extLst>
          </p:cNvPr>
          <p:cNvSpPr>
            <a:spLocks xmlns:a="http://schemas.openxmlformats.org/drawingml/2006/main" noGrp="1"/>
          </p:cNvSpPr>
          <p:nvPr/>
        </p:nvSpPr>
        <p:spPr>
          <a:xfrm xmlns:a="http://schemas.openxmlformats.org/drawingml/2006/main">
            <a:off x="714375" y="3790950"/>
            <a:ext cx="5429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B1730"/>
                </a:solidFill>
                <a:latin typeface="Arial"/>
                <a:ea typeface="Arial"/>
                <a:cs typeface="Arial"/>
              </a:defRPr>
            </a:pPr>
            <a:r>
              <a:rPr sz="2400" b="1">
                <a:solidFill>
                  <a:srgbClr val="0B1730"/>
                </a:solidFill>
                <a:latin typeface="Arial"/>
                <a:ea typeface="Arial"/>
                <a:cs typeface="Arial"/>
              </a:rPr>
              <a:t>Industry, construction and services</a:t>
            </a:r>
          </a:p>
        </p:txBody>
      </p:sp>
      <p:sp>
        <p:nvSpPr>
          <p:cNvPr id="5" name="">
            <a:extLst xmlns:a="http://schemas.openxmlformats.org/drawingml/2006/main">
              <a:ext uri="{FF2B5EF4-FFF2-40B4-BE49-F238E27FC236}">
                <a16:creationId xmlns:a16="http://schemas.microsoft.com/office/drawing/2014/main" id="{5C6EB930-8915-49F0-99A0-507E0776CC72}"/>
              </a:ext>
            </a:extLst>
          </p:cNvPr>
          <p:cNvSpPr>
            <a:spLocks xmlns:a="http://schemas.openxmlformats.org/drawingml/2006/main" noGrp="1"/>
          </p:cNvSpPr>
          <p:nvPr/>
        </p:nvSpPr>
        <p:spPr>
          <a:xfrm xmlns:a="http://schemas.openxmlformats.org/drawingml/2006/main">
            <a:off x="714375" y="49625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4E6077"/>
                </a:solidFill>
                <a:latin typeface="Arial"/>
                <a:ea typeface="Arial"/>
                <a:cs typeface="Arial"/>
              </a:defRPr>
            </a:pPr>
            <a:r>
              <a:rPr sz="2100" b="0">
                <a:solidFill>
                  <a:srgbClr val="4E6077"/>
                </a:solidFill>
                <a:latin typeface="Arial"/>
                <a:ea typeface="Arial"/>
                <a:cs typeface="Arial"/>
              </a:rPr>
              <a:t>Six years of historical data</a:t>
            </a:r>
          </a:p>
          <a:p xmlns:a="http://schemas.openxmlformats.org/drawingml/2006/main">
            <a:pPr>
              <a:defRPr sz="2100" b="0">
                <a:solidFill>
                  <a:srgbClr val="4E6077"/>
                </a:solidFill>
                <a:latin typeface="Arial"/>
                <a:ea typeface="Arial"/>
                <a:cs typeface="Arial"/>
              </a:defRPr>
            </a:pPr>
            <a:r>
              <a:rPr sz="2100" b="0">
                <a:solidFill>
                  <a:srgbClr val="4E6077"/>
                </a:solidFill>
                <a:latin typeface="Arial"/>
                <a:ea typeface="Arial"/>
                <a:cs typeface="Arial"/>
              </a:rPr>
              <a:t>2015–2020</a:t>
            </a:r>
          </a:p>
        </p:txBody>
      </p:sp>
      <p:sp>
        <p:nvSpPr>
          <p:cNvPr id="6" name="">
            <a:extLst xmlns:a="http://schemas.openxmlformats.org/drawingml/2006/main">
              <a:ext uri="{FF2B5EF4-FFF2-40B4-BE49-F238E27FC236}">
                <a16:creationId xmlns:a16="http://schemas.microsoft.com/office/drawing/2014/main" id="{C5F67CE6-CA9D-43BB-B9BA-4C15E8021BE4}"/>
              </a:ext>
            </a:extLst>
          </p:cNvPr>
          <p:cNvSpPr>
            <a:spLocks xmlns:a="http://schemas.openxmlformats.org/drawingml/2006/main" noGrp="1"/>
          </p:cNvSpPr>
          <p:nvPr/>
        </p:nvSpPr>
        <p:spPr>
          <a:xfrm xmlns:a="http://schemas.openxmlformats.org/drawingml/2006/main">
            <a:off x="6953250" y="1809750"/>
            <a:ext cx="4476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B1730"/>
                </a:solidFill>
                <a:latin typeface="Arial"/>
                <a:ea typeface="Arial"/>
                <a:cs typeface="Arial"/>
              </a:defRPr>
            </a:pPr>
            <a:r>
              <a:rPr sz="2400" b="0">
                <a:solidFill>
                  <a:srgbClr val="0B1730"/>
                </a:solidFill>
                <a:latin typeface="Arial"/>
                <a:ea typeface="Arial"/>
                <a:cs typeface="Arial"/>
              </a:rPr>
              <a:t>Milano</a:t>
            </a:r>
          </a:p>
          <a:p xmlns:a="http://schemas.openxmlformats.org/drawingml/2006/main">
            <a:pPr>
              <a:defRPr sz="2400" b="0">
                <a:solidFill>
                  <a:srgbClr val="0B1730"/>
                </a:solidFill>
                <a:latin typeface="Arial"/>
                <a:ea typeface="Arial"/>
                <a:cs typeface="Arial"/>
              </a:defRPr>
            </a:pPr>
            <a:r>
              <a:rPr sz="2400" b="0">
                <a:solidFill>
                  <a:srgbClr val="0B1730"/>
                </a:solidFill>
                <a:latin typeface="Arial"/>
                <a:ea typeface="Arial"/>
                <a:cs typeface="Arial"/>
              </a:rPr>
              <a:t>Brescia</a:t>
            </a:r>
          </a:p>
          <a:p xmlns:a="http://schemas.openxmlformats.org/drawingml/2006/main">
            <a:pPr>
              <a:defRPr sz="2400" b="0">
                <a:solidFill>
                  <a:srgbClr val="0B1730"/>
                </a:solidFill>
                <a:latin typeface="Arial"/>
                <a:ea typeface="Arial"/>
                <a:cs typeface="Arial"/>
              </a:defRPr>
            </a:pPr>
            <a:r>
              <a:rPr sz="2400" b="0">
                <a:solidFill>
                  <a:srgbClr val="0B1730"/>
                </a:solidFill>
                <a:latin typeface="Arial"/>
                <a:ea typeface="Arial"/>
                <a:cs typeface="Arial"/>
              </a:rPr>
              <a:t>Bergamo</a:t>
            </a:r>
          </a:p>
          <a:p xmlns:a="http://schemas.openxmlformats.org/drawingml/2006/main">
            <a:pPr>
              <a:defRPr sz="2400" b="0">
                <a:solidFill>
                  <a:srgbClr val="0B1730"/>
                </a:solidFill>
                <a:latin typeface="Arial"/>
                <a:ea typeface="Arial"/>
                <a:cs typeface="Arial"/>
              </a:defRPr>
            </a:pPr>
            <a:r>
              <a:rPr sz="2400" b="0">
                <a:solidFill>
                  <a:srgbClr val="0B1730"/>
                </a:solidFill>
                <a:latin typeface="Arial"/>
                <a:ea typeface="Arial"/>
                <a:cs typeface="Arial"/>
              </a:rPr>
              <a:t>Monza e della Brianza</a:t>
            </a:r>
          </a:p>
          <a:p xmlns:a="http://schemas.openxmlformats.org/drawingml/2006/main">
            <a:pPr>
              <a:defRPr sz="2400" b="0">
                <a:solidFill>
                  <a:srgbClr val="0B1730"/>
                </a:solidFill>
                <a:latin typeface="Arial"/>
                <a:ea typeface="Arial"/>
                <a:cs typeface="Arial"/>
              </a:defRPr>
            </a:pPr>
            <a:r>
              <a:rPr sz="2400" b="0">
                <a:solidFill>
                  <a:srgbClr val="0B1730"/>
                </a:solidFill>
                <a:latin typeface="Arial"/>
                <a:ea typeface="Arial"/>
                <a:cs typeface="Arial"/>
              </a:rPr>
              <a:t>Varese</a:t>
            </a:r>
          </a:p>
        </p:txBody>
      </p:sp>
      <p:sp>
        <p:nvSpPr>
          <p:cNvPr id="7" name="">
            <a:extLst xmlns:a="http://schemas.openxmlformats.org/drawingml/2006/main">
              <a:ext uri="{FF2B5EF4-FFF2-40B4-BE49-F238E27FC236}">
                <a16:creationId xmlns:a16="http://schemas.microsoft.com/office/drawing/2014/main" id="{6B41CCCE-48D7-4140-AC06-7D42341B5C7F}"/>
              </a:ext>
            </a:extLst>
          </p:cNvPr>
          <p:cNvSpPr>
            <a:spLocks xmlns:a="http://schemas.openxmlformats.org/drawingml/2006/main" noGrp="1"/>
          </p:cNvSpPr>
          <p:nvPr/>
        </p:nvSpPr>
        <p:spPr>
          <a:xfrm xmlns:a="http://schemas.openxmlformats.org/drawingml/2006/main">
            <a:off x="6953250" y="5162550"/>
            <a:ext cx="4476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E6077"/>
                </a:solidFill>
                <a:latin typeface="Arial"/>
                <a:ea typeface="Arial"/>
                <a:cs typeface="Arial"/>
              </a:defRPr>
            </a:pPr>
            <a:r>
              <a:rPr sz="1875" b="0">
                <a:solidFill>
                  <a:srgbClr val="4E6077"/>
                </a:solidFill>
                <a:latin typeface="Arial"/>
                <a:ea typeface="Arial"/>
                <a:cs typeface="Arial"/>
              </a:rPr>
              <a:t>A manageable hackathon scope with</a:t>
            </a:r>
          </a:p>
          <a:p xmlns:a="http://schemas.openxmlformats.org/drawingml/2006/main">
            <a:pPr>
              <a:defRPr sz="1875" b="0">
                <a:solidFill>
                  <a:srgbClr val="4E6077"/>
                </a:solidFill>
                <a:latin typeface="Arial"/>
                <a:ea typeface="Arial"/>
                <a:cs typeface="Arial"/>
              </a:defRPr>
            </a:pPr>
            <a:r>
              <a:rPr sz="1875" b="0">
                <a:solidFill>
                  <a:srgbClr val="4E6077"/>
                </a:solidFill>
                <a:latin typeface="Arial"/>
                <a:ea typeface="Arial"/>
                <a:cs typeface="Arial"/>
              </a:rPr>
              <a:t>comparable banking and business data</a:t>
            </a:r>
          </a:p>
        </p:txBody>
      </p:sp>
    </p:spTree>
    <p:extLst>
      <p:ext uri="{BB962C8B-B14F-4D97-AF65-F5344CB8AC3E}">
        <p14:creationId xmlns:p14="http://schemas.microsoft.com/office/powerpoint/2010/main" val="360902345"/>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F244042-5B23-4A7B-84B0-F7BBDD36B4A9}"/>
              </a:ext>
            </a:extLst>
          </p:cNvPr>
          <p:cNvSpPr>
            <a:spLocks xmlns:a="http://schemas.openxmlformats.org/drawingml/2006/main" noGrp="1"/>
          </p:cNvSpPr>
          <p:nvPr/>
        </p:nvSpPr>
        <p:spPr>
          <a:xfrm xmlns:a="http://schemas.openxmlformats.org/drawingml/2006/main">
            <a:off x="628650" y="4953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B1730"/>
                </a:solidFill>
                <a:latin typeface="Arial"/>
                <a:ea typeface="Arial"/>
                <a:cs typeface="Arial"/>
              </a:defRPr>
            </a:pPr>
            <a:r>
              <a:rPr sz="3300" b="1">
                <a:solidFill>
                  <a:srgbClr val="0B1730"/>
                </a:solidFill>
                <a:latin typeface="Arial"/>
                <a:ea typeface="Arial"/>
                <a:cs typeface="Arial"/>
              </a:rPr>
              <a:t>Underfinanced and overheated clusters</a:t>
            </a:r>
          </a:p>
        </p:txBody>
      </p:sp>
      <p:sp>
        <p:nvSpPr>
          <p:cNvPr id="2" name="">
            <a:extLst xmlns:a="http://schemas.openxmlformats.org/drawingml/2006/main">
              <a:ext uri="{FF2B5EF4-FFF2-40B4-BE49-F238E27FC236}">
                <a16:creationId xmlns:a16="http://schemas.microsoft.com/office/drawing/2014/main" id="{E95A8400-E4D3-478D-8333-46C55C94D7AC}"/>
              </a:ext>
            </a:extLst>
          </p:cNvPr>
          <p:cNvSpPr>
            <a:spLocks xmlns:a="http://schemas.openxmlformats.org/drawingml/2006/main" noGrp="1"/>
          </p:cNvSpPr>
          <p:nvPr/>
        </p:nvSpPr>
        <p:spPr>
          <a:xfrm xmlns:a="http://schemas.openxmlformats.org/drawingml/2006/main">
            <a:off x="666750" y="1581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8CAB"/>
                </a:solidFill>
                <a:latin typeface="Arial"/>
                <a:ea typeface="Arial"/>
                <a:cs typeface="Arial"/>
              </a:defRPr>
            </a:pPr>
            <a:r>
              <a:rPr sz="2550" b="1">
                <a:solidFill>
                  <a:srgbClr val="008CAB"/>
                </a:solidFill>
                <a:latin typeface="Arial"/>
                <a:ea typeface="Arial"/>
                <a:cs typeface="Arial"/>
              </a:rPr>
              <a:t>Capital Gap = Financing Support − Economic Momentum</a:t>
            </a:r>
          </a:p>
        </p:txBody>
      </p:sp>
      <p:sp>
        <p:nvSpPr>
          <p:cNvPr id="3" name="">
            <a:extLst xmlns:a="http://schemas.openxmlformats.org/drawingml/2006/main">
              <a:ext uri="{FF2B5EF4-FFF2-40B4-BE49-F238E27FC236}">
                <a16:creationId xmlns:a16="http://schemas.microsoft.com/office/drawing/2014/main" id="{D8D7C983-900D-4F4B-BF2A-E01405A968B1}"/>
              </a:ext>
            </a:extLst>
          </p:cNvPr>
          <p:cNvSpPr>
            <a:spLocks xmlns:a="http://schemas.openxmlformats.org/drawingml/2006/main" noGrp="1"/>
          </p:cNvSpPr>
          <p:nvPr/>
        </p:nvSpPr>
        <p:spPr>
          <a:xfrm xmlns:a="http://schemas.openxmlformats.org/drawingml/2006/main">
            <a:off x="685800" y="2914650"/>
            <a:ext cx="3381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93160"/>
                </a:solidFill>
                <a:latin typeface="Arial"/>
                <a:ea typeface="Arial"/>
                <a:cs typeface="Arial"/>
              </a:defRPr>
            </a:pPr>
            <a:r>
              <a:rPr sz="2325" b="1">
                <a:solidFill>
                  <a:srgbClr val="D93160"/>
                </a:solidFill>
                <a:latin typeface="Arial"/>
                <a:ea typeface="Arial"/>
                <a:cs typeface="Arial"/>
              </a:rPr>
              <a:t>Underfinanced</a:t>
            </a:r>
          </a:p>
        </p:txBody>
      </p:sp>
      <p:sp>
        <p:nvSpPr>
          <p:cNvPr id="4" name="">
            <a:extLst xmlns:a="http://schemas.openxmlformats.org/drawingml/2006/main">
              <a:ext uri="{FF2B5EF4-FFF2-40B4-BE49-F238E27FC236}">
                <a16:creationId xmlns:a16="http://schemas.microsoft.com/office/drawing/2014/main" id="{AC52AE97-5E77-4B44-BBD4-DF08A2BBE362}"/>
              </a:ext>
            </a:extLst>
          </p:cNvPr>
          <p:cNvSpPr>
            <a:spLocks xmlns:a="http://schemas.openxmlformats.org/drawingml/2006/main" noGrp="1"/>
          </p:cNvSpPr>
          <p:nvPr/>
        </p:nvSpPr>
        <p:spPr>
          <a:xfrm xmlns:a="http://schemas.openxmlformats.org/drawingml/2006/main">
            <a:off x="685800" y="35909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93160"/>
                </a:solidFill>
                <a:latin typeface="Arial"/>
                <a:ea typeface="Arial"/>
                <a:cs typeface="Arial"/>
              </a:defRPr>
            </a:pPr>
            <a:r>
              <a:rPr sz="3000" b="1">
                <a:solidFill>
                  <a:srgbClr val="D93160"/>
                </a:solidFill>
                <a:latin typeface="Arial"/>
                <a:ea typeface="Arial"/>
                <a:cs typeface="Arial"/>
              </a:rPr>
              <a:t>Gap ≤ −15</a:t>
            </a:r>
          </a:p>
        </p:txBody>
      </p:sp>
      <p:sp>
        <p:nvSpPr>
          <p:cNvPr id="5" name="">
            <a:extLst xmlns:a="http://schemas.openxmlformats.org/drawingml/2006/main">
              <a:ext uri="{FF2B5EF4-FFF2-40B4-BE49-F238E27FC236}">
                <a16:creationId xmlns:a16="http://schemas.microsoft.com/office/drawing/2014/main" id="{C7403007-4BFB-49FA-A21F-77D128C9B4E0}"/>
              </a:ext>
            </a:extLst>
          </p:cNvPr>
          <p:cNvSpPr>
            <a:spLocks xmlns:a="http://schemas.openxmlformats.org/drawingml/2006/main" noGrp="1"/>
          </p:cNvSpPr>
          <p:nvPr/>
        </p:nvSpPr>
        <p:spPr>
          <a:xfrm xmlns:a="http://schemas.openxmlformats.org/drawingml/2006/main">
            <a:off x="685800" y="441007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B1730"/>
                </a:solidFill>
                <a:latin typeface="Arial"/>
                <a:ea typeface="Arial"/>
                <a:cs typeface="Arial"/>
              </a:defRPr>
            </a:pPr>
            <a:r>
              <a:rPr sz="2100" b="0">
                <a:solidFill>
                  <a:srgbClr val="0B1730"/>
                </a:solidFill>
                <a:latin typeface="Arial"/>
                <a:ea typeface="Arial"/>
                <a:cs typeface="Arial"/>
              </a:rPr>
              <a:t>Financing indicators trail</a:t>
            </a:r>
          </a:p>
          <a:p xmlns:a="http://schemas.openxmlformats.org/drawingml/2006/main">
            <a:pPr>
              <a:defRPr sz="2100" b="0">
                <a:solidFill>
                  <a:srgbClr val="0B1730"/>
                </a:solidFill>
                <a:latin typeface="Arial"/>
                <a:ea typeface="Arial"/>
                <a:cs typeface="Arial"/>
              </a:defRPr>
            </a:pPr>
            <a:r>
              <a:rPr sz="2100" b="0">
                <a:solidFill>
                  <a:srgbClr val="0B1730"/>
                </a:solidFill>
                <a:latin typeface="Arial"/>
                <a:ea typeface="Arial"/>
                <a:cs typeface="Arial"/>
              </a:rPr>
              <a:t>economic momentum</a:t>
            </a:r>
          </a:p>
        </p:txBody>
      </p:sp>
      <p:sp>
        <p:nvSpPr>
          <p:cNvPr id="6" name="">
            <a:extLst xmlns:a="http://schemas.openxmlformats.org/drawingml/2006/main">
              <a:ext uri="{FF2B5EF4-FFF2-40B4-BE49-F238E27FC236}">
                <a16:creationId xmlns:a16="http://schemas.microsoft.com/office/drawing/2014/main" id="{53AECFE8-561D-40BB-8F51-1659E55EE6B5}"/>
              </a:ext>
            </a:extLst>
          </p:cNvPr>
          <p:cNvSpPr>
            <a:spLocks xmlns:a="http://schemas.openxmlformats.org/drawingml/2006/main" noGrp="1"/>
          </p:cNvSpPr>
          <p:nvPr/>
        </p:nvSpPr>
        <p:spPr>
          <a:xfrm xmlns:a="http://schemas.openxmlformats.org/drawingml/2006/main">
            <a:off x="4486275" y="2914650"/>
            <a:ext cx="3095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815E"/>
                </a:solidFill>
                <a:latin typeface="Arial"/>
                <a:ea typeface="Arial"/>
                <a:cs typeface="Arial"/>
              </a:defRPr>
            </a:pPr>
            <a:r>
              <a:rPr sz="2325" b="1">
                <a:solidFill>
                  <a:srgbClr val="14815E"/>
                </a:solidFill>
                <a:latin typeface="Arial"/>
                <a:ea typeface="Arial"/>
                <a:cs typeface="Arial"/>
              </a:rPr>
              <a:t>Balanced</a:t>
            </a:r>
          </a:p>
        </p:txBody>
      </p:sp>
      <p:sp>
        <p:nvSpPr>
          <p:cNvPr id="7" name="">
            <a:extLst xmlns:a="http://schemas.openxmlformats.org/drawingml/2006/main">
              <a:ext uri="{FF2B5EF4-FFF2-40B4-BE49-F238E27FC236}">
                <a16:creationId xmlns:a16="http://schemas.microsoft.com/office/drawing/2014/main" id="{C07DF503-0FF5-4246-A8A0-F41B2740A7D3}"/>
              </a:ext>
            </a:extLst>
          </p:cNvPr>
          <p:cNvSpPr>
            <a:spLocks xmlns:a="http://schemas.openxmlformats.org/drawingml/2006/main" noGrp="1"/>
          </p:cNvSpPr>
          <p:nvPr/>
        </p:nvSpPr>
        <p:spPr>
          <a:xfrm xmlns:a="http://schemas.openxmlformats.org/drawingml/2006/main">
            <a:off x="4486275" y="359092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815E"/>
                </a:solidFill>
                <a:latin typeface="Arial"/>
                <a:ea typeface="Arial"/>
                <a:cs typeface="Arial"/>
              </a:defRPr>
            </a:pPr>
            <a:r>
              <a:rPr sz="2625" b="1">
                <a:solidFill>
                  <a:srgbClr val="14815E"/>
                </a:solidFill>
                <a:latin typeface="Arial"/>
                <a:ea typeface="Arial"/>
                <a:cs typeface="Arial"/>
              </a:rPr>
              <a:t>−15 &lt; Gap &lt; +15</a:t>
            </a:r>
          </a:p>
        </p:txBody>
      </p:sp>
      <p:sp>
        <p:nvSpPr>
          <p:cNvPr id="8" name="">
            <a:extLst xmlns:a="http://schemas.openxmlformats.org/drawingml/2006/main">
              <a:ext uri="{FF2B5EF4-FFF2-40B4-BE49-F238E27FC236}">
                <a16:creationId xmlns:a16="http://schemas.microsoft.com/office/drawing/2014/main" id="{F7DD80C9-AB61-44E1-8DA1-D58279F9CBF1}"/>
              </a:ext>
            </a:extLst>
          </p:cNvPr>
          <p:cNvSpPr>
            <a:spLocks xmlns:a="http://schemas.openxmlformats.org/drawingml/2006/main" noGrp="1"/>
          </p:cNvSpPr>
          <p:nvPr/>
        </p:nvSpPr>
        <p:spPr>
          <a:xfrm xmlns:a="http://schemas.openxmlformats.org/drawingml/2006/main">
            <a:off x="4486275" y="441007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B1730"/>
                </a:solidFill>
                <a:latin typeface="Arial"/>
                <a:ea typeface="Arial"/>
                <a:cs typeface="Arial"/>
              </a:defRPr>
            </a:pPr>
            <a:r>
              <a:rPr sz="2100" b="0">
                <a:solidFill>
                  <a:srgbClr val="0B1730"/>
                </a:solidFill>
                <a:latin typeface="Arial"/>
                <a:ea typeface="Arial"/>
                <a:cs typeface="Arial"/>
              </a:rPr>
              <a:t>The scores sit within</a:t>
            </a:r>
          </a:p>
          <a:p xmlns:a="http://schemas.openxmlformats.org/drawingml/2006/main">
            <a:pPr>
              <a:defRPr sz="2100" b="0">
                <a:solidFill>
                  <a:srgbClr val="0B1730"/>
                </a:solidFill>
                <a:latin typeface="Arial"/>
                <a:ea typeface="Arial"/>
                <a:cs typeface="Arial"/>
              </a:defRPr>
            </a:pPr>
            <a:r>
              <a:rPr sz="2100" b="0">
                <a:solidFill>
                  <a:srgbClr val="0B1730"/>
                </a:solidFill>
                <a:latin typeface="Arial"/>
                <a:ea typeface="Arial"/>
                <a:cs typeface="Arial"/>
              </a:rPr>
              <a:t>the chosen balance range</a:t>
            </a:r>
          </a:p>
        </p:txBody>
      </p:sp>
      <p:sp>
        <p:nvSpPr>
          <p:cNvPr id="9" name="">
            <a:extLst xmlns:a="http://schemas.openxmlformats.org/drawingml/2006/main">
              <a:ext uri="{FF2B5EF4-FFF2-40B4-BE49-F238E27FC236}">
                <a16:creationId xmlns:a16="http://schemas.microsoft.com/office/drawing/2014/main" id="{8C3B5AAB-7767-445B-8CE0-B2FA7C111827}"/>
              </a:ext>
            </a:extLst>
          </p:cNvPr>
          <p:cNvSpPr>
            <a:spLocks xmlns:a="http://schemas.openxmlformats.org/drawingml/2006/main" noGrp="1"/>
          </p:cNvSpPr>
          <p:nvPr/>
        </p:nvSpPr>
        <p:spPr>
          <a:xfrm xmlns:a="http://schemas.openxmlformats.org/drawingml/2006/main">
            <a:off x="8543925" y="2914650"/>
            <a:ext cx="304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65CE"/>
                </a:solidFill>
                <a:latin typeface="Arial"/>
                <a:ea typeface="Arial"/>
                <a:cs typeface="Arial"/>
              </a:defRPr>
            </a:pPr>
            <a:r>
              <a:rPr sz="2325" b="1">
                <a:solidFill>
                  <a:srgbClr val="1865CE"/>
                </a:solidFill>
                <a:latin typeface="Arial"/>
                <a:ea typeface="Arial"/>
                <a:cs typeface="Arial"/>
              </a:rPr>
              <a:t>Overheated</a:t>
            </a:r>
          </a:p>
        </p:txBody>
      </p:sp>
      <p:sp>
        <p:nvSpPr>
          <p:cNvPr id="10" name="">
            <a:extLst xmlns:a="http://schemas.openxmlformats.org/drawingml/2006/main">
              <a:ext uri="{FF2B5EF4-FFF2-40B4-BE49-F238E27FC236}">
                <a16:creationId xmlns:a16="http://schemas.microsoft.com/office/drawing/2014/main" id="{BBDAA73E-522A-4B1B-B3C8-DABE58B9A3FA}"/>
              </a:ext>
            </a:extLst>
          </p:cNvPr>
          <p:cNvSpPr>
            <a:spLocks xmlns:a="http://schemas.openxmlformats.org/drawingml/2006/main" noGrp="1"/>
          </p:cNvSpPr>
          <p:nvPr/>
        </p:nvSpPr>
        <p:spPr>
          <a:xfrm xmlns:a="http://schemas.openxmlformats.org/drawingml/2006/main">
            <a:off x="8543925" y="3590925"/>
            <a:ext cx="300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65CE"/>
                </a:solidFill>
                <a:latin typeface="Arial"/>
                <a:ea typeface="Arial"/>
                <a:cs typeface="Arial"/>
              </a:defRPr>
            </a:pPr>
            <a:r>
              <a:rPr sz="3000" b="1">
                <a:solidFill>
                  <a:srgbClr val="1865CE"/>
                </a:solidFill>
                <a:latin typeface="Arial"/>
                <a:ea typeface="Arial"/>
                <a:cs typeface="Arial"/>
              </a:rPr>
              <a:t>Gap ≥ +15</a:t>
            </a:r>
          </a:p>
        </p:txBody>
      </p:sp>
      <p:sp>
        <p:nvSpPr>
          <p:cNvPr id="11" name="">
            <a:extLst xmlns:a="http://schemas.openxmlformats.org/drawingml/2006/main">
              <a:ext uri="{FF2B5EF4-FFF2-40B4-BE49-F238E27FC236}">
                <a16:creationId xmlns:a16="http://schemas.microsoft.com/office/drawing/2014/main" id="{0F8A86EC-D299-483D-89F6-DE6405249D4F}"/>
              </a:ext>
            </a:extLst>
          </p:cNvPr>
          <p:cNvSpPr>
            <a:spLocks xmlns:a="http://schemas.openxmlformats.org/drawingml/2006/main" noGrp="1"/>
          </p:cNvSpPr>
          <p:nvPr/>
        </p:nvSpPr>
        <p:spPr>
          <a:xfrm xmlns:a="http://schemas.openxmlformats.org/drawingml/2006/main">
            <a:off x="8543925" y="4410075"/>
            <a:ext cx="3000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0B1730"/>
                </a:solidFill>
                <a:latin typeface="Arial"/>
                <a:ea typeface="Arial"/>
                <a:cs typeface="Arial"/>
              </a:defRPr>
            </a:pPr>
            <a:r>
              <a:rPr sz="2025" b="0">
                <a:solidFill>
                  <a:srgbClr val="0B1730"/>
                </a:solidFill>
                <a:latin typeface="Arial"/>
                <a:ea typeface="Arial"/>
                <a:cs typeface="Arial"/>
              </a:rPr>
              <a:t>Financing indicators exceed</a:t>
            </a:r>
          </a:p>
          <a:p xmlns:a="http://schemas.openxmlformats.org/drawingml/2006/main">
            <a:pPr>
              <a:defRPr sz="2025" b="0">
                <a:solidFill>
                  <a:srgbClr val="0B1730"/>
                </a:solidFill>
                <a:latin typeface="Arial"/>
                <a:ea typeface="Arial"/>
                <a:cs typeface="Arial"/>
              </a:defRPr>
            </a:pPr>
            <a:r>
              <a:rPr sz="2025" b="0">
                <a:solidFill>
                  <a:srgbClr val="0B1730"/>
                </a:solidFill>
                <a:latin typeface="Arial"/>
                <a:ea typeface="Arial"/>
                <a:cs typeface="Arial"/>
              </a:rPr>
              <a:t>economic momentum</a:t>
            </a:r>
          </a:p>
        </p:txBody>
      </p:sp>
      <p:sp>
        <p:nvSpPr>
          <p:cNvPr id="12" name="">
            <a:extLst xmlns:a="http://schemas.openxmlformats.org/drawingml/2006/main">
              <a:ext uri="{FF2B5EF4-FFF2-40B4-BE49-F238E27FC236}">
                <a16:creationId xmlns:a16="http://schemas.microsoft.com/office/drawing/2014/main" id="{5661EE22-84BA-45B0-854F-0E4E39D45C1E}"/>
              </a:ext>
            </a:extLst>
          </p:cNvPr>
          <p:cNvSpPr>
            <a:spLocks xmlns:a="http://schemas.openxmlformats.org/drawingml/2006/main" noGrp="1"/>
          </p:cNvSpPr>
          <p:nvPr/>
        </p:nvSpPr>
        <p:spPr>
          <a:xfrm xmlns:a="http://schemas.openxmlformats.org/drawingml/2006/main">
            <a:off x="685800" y="59912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E6077"/>
                </a:solidFill>
                <a:latin typeface="Arial"/>
                <a:ea typeface="Arial"/>
                <a:cs typeface="Arial"/>
              </a:defRPr>
            </a:pPr>
            <a:r>
              <a:rPr sz="1725" b="0">
                <a:solidFill>
                  <a:srgbClr val="4E6077"/>
                </a:solidFill>
                <a:latin typeface="Arial"/>
                <a:ea typeface="Arial"/>
                <a:cs typeface="Arial"/>
              </a:rPr>
              <a:t>Differences in index points. These labels signal areas for further investigation.</a:t>
            </a:r>
          </a:p>
        </p:txBody>
      </p:sp>
    </p:spTree>
    <p:extLst>
      <p:ext uri="{BB962C8B-B14F-4D97-AF65-F5344CB8AC3E}">
        <p14:creationId xmlns:p14="http://schemas.microsoft.com/office/powerpoint/2010/main" val="1280492429"/>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481D4F-8C1B-437C-9311-89B80D00E57E}"/>
              </a:ext>
            </a:extLst>
          </p:cNvPr>
          <p:cNvSpPr>
            <a:spLocks xmlns:a="http://schemas.openxmlformats.org/drawingml/2006/main" noGrp="1"/>
          </p:cNvSpPr>
          <p:nvPr/>
        </p:nvSpPr>
        <p:spPr>
          <a:xfrm xmlns:a="http://schemas.openxmlformats.org/drawingml/2006/main">
            <a:off x="628650" y="4953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B1730"/>
                </a:solidFill>
                <a:latin typeface="Arial"/>
                <a:ea typeface="Arial"/>
                <a:cs typeface="Arial"/>
              </a:defRPr>
            </a:pPr>
            <a:r>
              <a:rPr sz="3300" b="1">
                <a:solidFill>
                  <a:srgbClr val="0B1730"/>
                </a:solidFill>
                <a:latin typeface="Arial"/>
                <a:ea typeface="Arial"/>
                <a:cs typeface="Arial"/>
              </a:rPr>
              <a:t>Two examples from the dashboard</a:t>
            </a:r>
          </a:p>
        </p:txBody>
      </p:sp>
      <p:sp>
        <p:nvSpPr>
          <p:cNvPr id="2" name="">
            <a:extLst xmlns:a="http://schemas.openxmlformats.org/drawingml/2006/main">
              <a:ext uri="{FF2B5EF4-FFF2-40B4-BE49-F238E27FC236}">
                <a16:creationId xmlns:a16="http://schemas.microsoft.com/office/drawing/2014/main" id="{1DD1E081-5EE0-416C-B43F-882525CB17EA}"/>
              </a:ext>
            </a:extLst>
          </p:cNvPr>
          <p:cNvSpPr>
            <a:spLocks xmlns:a="http://schemas.openxmlformats.org/drawingml/2006/main" noGrp="1"/>
          </p:cNvSpPr>
          <p:nvPr/>
        </p:nvSpPr>
        <p:spPr>
          <a:xfrm xmlns:a="http://schemas.openxmlformats.org/drawingml/2006/main">
            <a:off x="695325" y="1800225"/>
            <a:ext cx="5200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B1730"/>
                </a:solidFill>
                <a:latin typeface="Arial"/>
                <a:ea typeface="Arial"/>
                <a:cs typeface="Arial"/>
              </a:defRPr>
            </a:pPr>
            <a:r>
              <a:rPr sz="2700" b="1">
                <a:solidFill>
                  <a:srgbClr val="0B1730"/>
                </a:solidFill>
                <a:latin typeface="Arial"/>
                <a:ea typeface="Arial"/>
                <a:cs typeface="Arial"/>
              </a:rPr>
              <a:t>Brescia construction</a:t>
            </a:r>
          </a:p>
        </p:txBody>
      </p:sp>
      <p:sp>
        <p:nvSpPr>
          <p:cNvPr id="3" name="">
            <a:extLst xmlns:a="http://schemas.openxmlformats.org/drawingml/2006/main">
              <a:ext uri="{FF2B5EF4-FFF2-40B4-BE49-F238E27FC236}">
                <a16:creationId xmlns:a16="http://schemas.microsoft.com/office/drawing/2014/main" id="{3F8946DE-349B-4C00-85B8-0149FDDA394D}"/>
              </a:ext>
            </a:extLst>
          </p:cNvPr>
          <p:cNvSpPr>
            <a:spLocks xmlns:a="http://schemas.openxmlformats.org/drawingml/2006/main" noGrp="1"/>
          </p:cNvSpPr>
          <p:nvPr/>
        </p:nvSpPr>
        <p:spPr>
          <a:xfrm xmlns:a="http://schemas.openxmlformats.org/drawingml/2006/main">
            <a:off x="685800" y="264795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D93160"/>
                </a:solidFill>
                <a:latin typeface="Arial"/>
                <a:ea typeface="Arial"/>
                <a:cs typeface="Arial"/>
              </a:defRPr>
            </a:pPr>
            <a:r>
              <a:rPr sz="7200" b="1">
                <a:solidFill>
                  <a:srgbClr val="D93160"/>
                </a:solidFill>
                <a:latin typeface="Arial"/>
                <a:ea typeface="Arial"/>
                <a:cs typeface="Arial"/>
              </a:rPr>
              <a:t>−27</a:t>
            </a:r>
          </a:p>
        </p:txBody>
      </p:sp>
      <p:sp>
        <p:nvSpPr>
          <p:cNvPr id="4" name="">
            <a:extLst xmlns:a="http://schemas.openxmlformats.org/drawingml/2006/main">
              <a:ext uri="{FF2B5EF4-FFF2-40B4-BE49-F238E27FC236}">
                <a16:creationId xmlns:a16="http://schemas.microsoft.com/office/drawing/2014/main" id="{C7889686-71BC-4F6C-B14F-4F12F356D640}"/>
              </a:ext>
            </a:extLst>
          </p:cNvPr>
          <p:cNvSpPr>
            <a:spLocks xmlns:a="http://schemas.openxmlformats.org/drawingml/2006/main" noGrp="1"/>
          </p:cNvSpPr>
          <p:nvPr/>
        </p:nvSpPr>
        <p:spPr>
          <a:xfrm xmlns:a="http://schemas.openxmlformats.org/drawingml/2006/main">
            <a:off x="742950" y="3924300"/>
            <a:ext cx="5000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E6077"/>
                </a:solidFill>
                <a:latin typeface="Arial"/>
                <a:ea typeface="Arial"/>
                <a:cs typeface="Arial"/>
              </a:defRPr>
            </a:pPr>
            <a:r>
              <a:rPr sz="1875" b="0">
                <a:solidFill>
                  <a:srgbClr val="4E6077"/>
                </a:solidFill>
                <a:latin typeface="Arial"/>
                <a:ea typeface="Arial"/>
                <a:cs typeface="Arial"/>
              </a:rPr>
              <a:t>Capital Gap Score</a:t>
            </a:r>
          </a:p>
        </p:txBody>
      </p:sp>
      <p:sp>
        <p:nvSpPr>
          <p:cNvPr id="5" name="">
            <a:extLst xmlns:a="http://schemas.openxmlformats.org/drawingml/2006/main">
              <a:ext uri="{FF2B5EF4-FFF2-40B4-BE49-F238E27FC236}">
                <a16:creationId xmlns:a16="http://schemas.microsoft.com/office/drawing/2014/main" id="{82D66F45-AEDD-48B9-A7B5-391967C9F69A}"/>
              </a:ext>
            </a:extLst>
          </p:cNvPr>
          <p:cNvSpPr>
            <a:spLocks xmlns:a="http://schemas.openxmlformats.org/drawingml/2006/main" noGrp="1"/>
          </p:cNvSpPr>
          <p:nvPr/>
        </p:nvSpPr>
        <p:spPr>
          <a:xfrm xmlns:a="http://schemas.openxmlformats.org/drawingml/2006/main">
            <a:off x="742950" y="4714875"/>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B1730"/>
                </a:solidFill>
                <a:latin typeface="Arial"/>
                <a:ea typeface="Arial"/>
                <a:cs typeface="Arial"/>
              </a:defRPr>
            </a:pPr>
            <a:r>
              <a:rPr sz="2100" b="0">
                <a:solidFill>
                  <a:srgbClr val="0B1730"/>
                </a:solidFill>
                <a:latin typeface="Arial"/>
                <a:ea typeface="Arial"/>
                <a:cs typeface="Arial"/>
              </a:rPr>
              <a:t>Economic momentum     68 / 100</a:t>
            </a:r>
          </a:p>
          <a:p xmlns:a="http://schemas.openxmlformats.org/drawingml/2006/main">
            <a:pPr>
              <a:defRPr sz="2100" b="0">
                <a:solidFill>
                  <a:srgbClr val="0B1730"/>
                </a:solidFill>
                <a:latin typeface="Arial"/>
                <a:ea typeface="Arial"/>
                <a:cs typeface="Arial"/>
              </a:defRPr>
            </a:pPr>
            <a:r>
              <a:rPr sz="2100" b="0">
                <a:solidFill>
                  <a:srgbClr val="0B1730"/>
                </a:solidFill>
                <a:latin typeface="Arial"/>
                <a:ea typeface="Arial"/>
                <a:cs typeface="Arial"/>
              </a:rPr>
              <a:t>Financing support          40 / 100</a:t>
            </a:r>
          </a:p>
        </p:txBody>
      </p:sp>
      <p:sp>
        <p:nvSpPr>
          <p:cNvPr id="6" name="">
            <a:extLst xmlns:a="http://schemas.openxmlformats.org/drawingml/2006/main">
              <a:ext uri="{FF2B5EF4-FFF2-40B4-BE49-F238E27FC236}">
                <a16:creationId xmlns:a16="http://schemas.microsoft.com/office/drawing/2014/main" id="{BB1AAF00-E0B8-4017-8F03-5EE047C24C74}"/>
              </a:ext>
            </a:extLst>
          </p:cNvPr>
          <p:cNvSpPr>
            <a:spLocks xmlns:a="http://schemas.openxmlformats.org/drawingml/2006/main" noGrp="1"/>
          </p:cNvSpPr>
          <p:nvPr/>
        </p:nvSpPr>
        <p:spPr>
          <a:xfrm xmlns:a="http://schemas.openxmlformats.org/drawingml/2006/main">
            <a:off x="6581775" y="1800225"/>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B1730"/>
                </a:solidFill>
                <a:latin typeface="Arial"/>
                <a:ea typeface="Arial"/>
                <a:cs typeface="Arial"/>
              </a:defRPr>
            </a:pPr>
            <a:r>
              <a:rPr sz="2400" b="1">
                <a:solidFill>
                  <a:srgbClr val="0B1730"/>
                </a:solidFill>
                <a:latin typeface="Arial"/>
                <a:ea typeface="Arial"/>
                <a:cs typeface="Arial"/>
              </a:rPr>
              <a:t>Monza e della Brianza industry</a:t>
            </a:r>
          </a:p>
        </p:txBody>
      </p:sp>
      <p:sp>
        <p:nvSpPr>
          <p:cNvPr id="7" name="">
            <a:extLst xmlns:a="http://schemas.openxmlformats.org/drawingml/2006/main">
              <a:ext uri="{FF2B5EF4-FFF2-40B4-BE49-F238E27FC236}">
                <a16:creationId xmlns:a16="http://schemas.microsoft.com/office/drawing/2014/main" id="{A7CB796E-BA59-4568-904F-BC4A8A8FD98E}"/>
              </a:ext>
            </a:extLst>
          </p:cNvPr>
          <p:cNvSpPr>
            <a:spLocks xmlns:a="http://schemas.openxmlformats.org/drawingml/2006/main" noGrp="1"/>
          </p:cNvSpPr>
          <p:nvPr/>
        </p:nvSpPr>
        <p:spPr>
          <a:xfrm xmlns:a="http://schemas.openxmlformats.org/drawingml/2006/main">
            <a:off x="6572250" y="26479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1865CE"/>
                </a:solidFill>
                <a:latin typeface="Arial"/>
                <a:ea typeface="Arial"/>
                <a:cs typeface="Arial"/>
              </a:defRPr>
            </a:pPr>
            <a:r>
              <a:rPr sz="7200" b="1">
                <a:solidFill>
                  <a:srgbClr val="1865CE"/>
                </a:solidFill>
                <a:latin typeface="Arial"/>
                <a:ea typeface="Arial"/>
                <a:cs typeface="Arial"/>
              </a:rPr>
              <a:t>+60</a:t>
            </a:r>
          </a:p>
        </p:txBody>
      </p:sp>
      <p:sp>
        <p:nvSpPr>
          <p:cNvPr id="8" name="">
            <a:extLst xmlns:a="http://schemas.openxmlformats.org/drawingml/2006/main">
              <a:ext uri="{FF2B5EF4-FFF2-40B4-BE49-F238E27FC236}">
                <a16:creationId xmlns:a16="http://schemas.microsoft.com/office/drawing/2014/main" id="{37911881-DC77-4F13-9B9D-E9B1714F0238}"/>
              </a:ext>
            </a:extLst>
          </p:cNvPr>
          <p:cNvSpPr>
            <a:spLocks xmlns:a="http://schemas.openxmlformats.org/drawingml/2006/main" noGrp="1"/>
          </p:cNvSpPr>
          <p:nvPr/>
        </p:nvSpPr>
        <p:spPr>
          <a:xfrm xmlns:a="http://schemas.openxmlformats.org/drawingml/2006/main">
            <a:off x="6629400" y="3924300"/>
            <a:ext cx="4743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E6077"/>
                </a:solidFill>
                <a:latin typeface="Arial"/>
                <a:ea typeface="Arial"/>
                <a:cs typeface="Arial"/>
              </a:defRPr>
            </a:pPr>
            <a:r>
              <a:rPr sz="1875" b="0">
                <a:solidFill>
                  <a:srgbClr val="4E6077"/>
                </a:solidFill>
                <a:latin typeface="Arial"/>
                <a:ea typeface="Arial"/>
                <a:cs typeface="Arial"/>
              </a:rPr>
              <a:t>Capital Gap Score</a:t>
            </a:r>
          </a:p>
        </p:txBody>
      </p:sp>
      <p:sp>
        <p:nvSpPr>
          <p:cNvPr id="9" name="">
            <a:extLst xmlns:a="http://schemas.openxmlformats.org/drawingml/2006/main">
              <a:ext uri="{FF2B5EF4-FFF2-40B4-BE49-F238E27FC236}">
                <a16:creationId xmlns:a16="http://schemas.microsoft.com/office/drawing/2014/main" id="{E95B37E1-F931-4086-A638-08ECE15E8A38}"/>
              </a:ext>
            </a:extLst>
          </p:cNvPr>
          <p:cNvSpPr>
            <a:spLocks xmlns:a="http://schemas.openxmlformats.org/drawingml/2006/main" noGrp="1"/>
          </p:cNvSpPr>
          <p:nvPr/>
        </p:nvSpPr>
        <p:spPr>
          <a:xfrm xmlns:a="http://schemas.openxmlformats.org/drawingml/2006/main">
            <a:off x="6629400" y="4714875"/>
            <a:ext cx="4714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B1730"/>
                </a:solidFill>
                <a:latin typeface="Arial"/>
                <a:ea typeface="Arial"/>
                <a:cs typeface="Arial"/>
              </a:defRPr>
            </a:pPr>
            <a:r>
              <a:rPr sz="2100" b="0">
                <a:solidFill>
                  <a:srgbClr val="0B1730"/>
                </a:solidFill>
                <a:latin typeface="Arial"/>
                <a:ea typeface="Arial"/>
                <a:cs typeface="Arial"/>
              </a:rPr>
              <a:t>Economic momentum     17 / 100</a:t>
            </a:r>
          </a:p>
          <a:p xmlns:a="http://schemas.openxmlformats.org/drawingml/2006/main">
            <a:pPr>
              <a:defRPr sz="2100" b="0">
                <a:solidFill>
                  <a:srgbClr val="0B1730"/>
                </a:solidFill>
                <a:latin typeface="Arial"/>
                <a:ea typeface="Arial"/>
                <a:cs typeface="Arial"/>
              </a:defRPr>
            </a:pPr>
            <a:r>
              <a:rPr sz="2100" b="0">
                <a:solidFill>
                  <a:srgbClr val="0B1730"/>
                </a:solidFill>
                <a:latin typeface="Arial"/>
                <a:ea typeface="Arial"/>
                <a:cs typeface="Arial"/>
              </a:rPr>
              <a:t>Financing support          77 / 100</a:t>
            </a:r>
          </a:p>
        </p:txBody>
      </p:sp>
      <p:sp>
        <p:nvSpPr>
          <p:cNvPr id="10" name="">
            <a:extLst xmlns:a="http://schemas.openxmlformats.org/drawingml/2006/main">
              <a:ext uri="{FF2B5EF4-FFF2-40B4-BE49-F238E27FC236}">
                <a16:creationId xmlns:a16="http://schemas.microsoft.com/office/drawing/2014/main" id="{59D09E2A-6610-46B6-B253-A8F2496235D9}"/>
              </a:ext>
            </a:extLst>
          </p:cNvPr>
          <p:cNvSpPr>
            <a:spLocks xmlns:a="http://schemas.openxmlformats.org/drawingml/2006/main" noGrp="1"/>
          </p:cNvSpPr>
          <p:nvPr/>
        </p:nvSpPr>
        <p:spPr>
          <a:xfrm xmlns:a="http://schemas.openxmlformats.org/drawingml/2006/main">
            <a:off x="742950" y="60674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E6077"/>
                </a:solidFill>
                <a:latin typeface="Arial"/>
                <a:ea typeface="Arial"/>
                <a:cs typeface="Arial"/>
              </a:defRPr>
            </a:pPr>
            <a:r>
              <a:rPr sz="1650" b="0">
                <a:solidFill>
                  <a:srgbClr val="4E6077"/>
                </a:solidFill>
                <a:latin typeface="Arial"/>
                <a:ea typeface="Arial"/>
                <a:cs typeface="Arial"/>
              </a:rPr>
              <a:t>2015–2020. The app computes gaps before rounding the displayed component scores.</a:t>
            </a:r>
          </a:p>
        </p:txBody>
      </p:sp>
    </p:spTree>
    <p:extLst>
      <p:ext uri="{BB962C8B-B14F-4D97-AF65-F5344CB8AC3E}">
        <p14:creationId xmlns:p14="http://schemas.microsoft.com/office/powerpoint/2010/main" val="1515428102"/>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3DA757-C386-4AC1-BD70-6E04EF742187}"/>
              </a:ext>
            </a:extLst>
          </p:cNvPr>
          <p:cNvSpPr>
            <a:spLocks xmlns:a="http://schemas.openxmlformats.org/drawingml/2006/main" noGrp="1"/>
          </p:cNvSpPr>
          <p:nvPr/>
        </p:nvSpPr>
        <p:spPr>
          <a:xfrm xmlns:a="http://schemas.openxmlformats.org/drawingml/2006/main">
            <a:off x="628650" y="4953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B1730"/>
                </a:solidFill>
                <a:latin typeface="Arial"/>
                <a:ea typeface="Arial"/>
                <a:cs typeface="Arial"/>
              </a:defRPr>
            </a:pPr>
            <a:r>
              <a:rPr sz="3300" b="1">
                <a:solidFill>
                  <a:srgbClr val="0B1730"/>
                </a:solidFill>
                <a:latin typeface="Arial"/>
                <a:ea typeface="Arial"/>
                <a:cs typeface="Arial"/>
              </a:rPr>
              <a:t>The model estimates credit and Gemini explains it</a:t>
            </a:r>
          </a:p>
        </p:txBody>
      </p:sp>
      <p:sp>
        <p:nvSpPr>
          <p:cNvPr id="2" name="">
            <a:extLst xmlns:a="http://schemas.openxmlformats.org/drawingml/2006/main">
              <a:ext uri="{FF2B5EF4-FFF2-40B4-BE49-F238E27FC236}">
                <a16:creationId xmlns:a16="http://schemas.microsoft.com/office/drawing/2014/main" id="{B9DFEA03-C018-4CE9-967B-A3406BF25471}"/>
              </a:ext>
            </a:extLst>
          </p:cNvPr>
          <p:cNvSpPr>
            <a:spLocks xmlns:a="http://schemas.openxmlformats.org/drawingml/2006/main" noGrp="1"/>
          </p:cNvSpPr>
          <p:nvPr/>
        </p:nvSpPr>
        <p:spPr>
          <a:xfrm xmlns:a="http://schemas.openxmlformats.org/drawingml/2006/main">
            <a:off x="704850" y="1809750"/>
            <a:ext cx="6191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B1730"/>
                </a:solidFill>
                <a:latin typeface="Arial"/>
                <a:ea typeface="Arial"/>
                <a:cs typeface="Arial"/>
              </a:defRPr>
            </a:pPr>
            <a:r>
              <a:rPr sz="2550" b="1">
                <a:solidFill>
                  <a:srgbClr val="0B1730"/>
                </a:solidFill>
                <a:latin typeface="Arial"/>
                <a:ea typeface="Arial"/>
                <a:cs typeface="Arial"/>
              </a:rPr>
              <a:t>Expected-credit benchmark</a:t>
            </a:r>
          </a:p>
        </p:txBody>
      </p:sp>
      <p:sp>
        <p:nvSpPr>
          <p:cNvPr id="3" name="">
            <a:extLst xmlns:a="http://schemas.openxmlformats.org/drawingml/2006/main">
              <a:ext uri="{FF2B5EF4-FFF2-40B4-BE49-F238E27FC236}">
                <a16:creationId xmlns:a16="http://schemas.microsoft.com/office/drawing/2014/main" id="{126B4BDC-3835-4361-B3F9-03FBAA7CB767}"/>
              </a:ext>
            </a:extLst>
          </p:cNvPr>
          <p:cNvSpPr>
            <a:spLocks xmlns:a="http://schemas.openxmlformats.org/drawingml/2006/main" noGrp="1"/>
          </p:cNvSpPr>
          <p:nvPr/>
        </p:nvSpPr>
        <p:spPr>
          <a:xfrm xmlns:a="http://schemas.openxmlformats.org/drawingml/2006/main">
            <a:off x="704850" y="2667000"/>
            <a:ext cx="6334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4E6077"/>
                </a:solidFill>
                <a:latin typeface="Arial"/>
                <a:ea typeface="Arial"/>
                <a:cs typeface="Arial"/>
              </a:defRPr>
            </a:pPr>
            <a:r>
              <a:rPr sz="2250" b="0">
                <a:solidFill>
                  <a:srgbClr val="4E6077"/>
                </a:solidFill>
                <a:latin typeface="Arial"/>
                <a:ea typeface="Arial"/>
                <a:cs typeface="Arial"/>
              </a:rPr>
              <a:t>Regression learns from turnover, business</a:t>
            </a:r>
          </a:p>
          <a:p xmlns:a="http://schemas.openxmlformats.org/drawingml/2006/main">
            <a:pPr>
              <a:defRPr sz="2250" b="0">
                <a:solidFill>
                  <a:srgbClr val="4E6077"/>
                </a:solidFill>
                <a:latin typeface="Arial"/>
                <a:ea typeface="Arial"/>
                <a:cs typeface="Arial"/>
              </a:defRPr>
            </a:pPr>
            <a:r>
              <a:rPr sz="2250" b="0">
                <a:solidFill>
                  <a:srgbClr val="4E6077"/>
                </a:solidFill>
                <a:latin typeface="Arial"/>
                <a:ea typeface="Arial"/>
                <a:cs typeface="Arial"/>
              </a:rPr>
              <a:t>establishments, sector and year</a:t>
            </a:r>
          </a:p>
        </p:txBody>
      </p:sp>
      <p:sp>
        <p:nvSpPr>
          <p:cNvPr id="4" name="">
            <a:extLst xmlns:a="http://schemas.openxmlformats.org/drawingml/2006/main">
              <a:ext uri="{FF2B5EF4-FFF2-40B4-BE49-F238E27FC236}">
                <a16:creationId xmlns:a16="http://schemas.microsoft.com/office/drawing/2014/main" id="{9849013B-C422-4EDB-BDCB-E5DEE151BF34}"/>
              </a:ext>
            </a:extLst>
          </p:cNvPr>
          <p:cNvSpPr>
            <a:spLocks xmlns:a="http://schemas.openxmlformats.org/drawingml/2006/main" noGrp="1"/>
          </p:cNvSpPr>
          <p:nvPr/>
        </p:nvSpPr>
        <p:spPr>
          <a:xfrm xmlns:a="http://schemas.openxmlformats.org/drawingml/2006/main">
            <a:off x="723900" y="4048125"/>
            <a:ext cx="247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008CAB"/>
                </a:solidFill>
                <a:latin typeface="Arial"/>
                <a:ea typeface="Arial"/>
                <a:cs typeface="Arial"/>
              </a:defRPr>
            </a:pPr>
            <a:r>
              <a:rPr sz="5250" b="1">
                <a:solidFill>
                  <a:srgbClr val="008CAB"/>
                </a:solidFill>
                <a:latin typeface="Arial"/>
                <a:ea typeface="Arial"/>
                <a:cs typeface="Arial"/>
              </a:rPr>
              <a:t>90</a:t>
            </a:r>
          </a:p>
        </p:txBody>
      </p:sp>
      <p:sp>
        <p:nvSpPr>
          <p:cNvPr id="5" name="">
            <a:extLst xmlns:a="http://schemas.openxmlformats.org/drawingml/2006/main">
              <a:ext uri="{FF2B5EF4-FFF2-40B4-BE49-F238E27FC236}">
                <a16:creationId xmlns:a16="http://schemas.microsoft.com/office/drawing/2014/main" id="{F4F29E6B-AF14-4977-9E2E-E13B1744035A}"/>
              </a:ext>
            </a:extLst>
          </p:cNvPr>
          <p:cNvSpPr>
            <a:spLocks xmlns:a="http://schemas.openxmlformats.org/drawingml/2006/main" noGrp="1"/>
          </p:cNvSpPr>
          <p:nvPr/>
        </p:nvSpPr>
        <p:spPr>
          <a:xfrm xmlns:a="http://schemas.openxmlformats.org/drawingml/2006/main">
            <a:off x="752475" y="51339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E6077"/>
                </a:solidFill>
                <a:latin typeface="Arial"/>
                <a:ea typeface="Arial"/>
                <a:cs typeface="Arial"/>
              </a:defRPr>
            </a:pPr>
            <a:r>
              <a:rPr sz="1950" b="0">
                <a:solidFill>
                  <a:srgbClr val="4E6077"/>
                </a:solidFill>
                <a:latin typeface="Arial"/>
                <a:ea typeface="Arial"/>
                <a:cs typeface="Arial"/>
              </a:rPr>
              <a:t>historical observations</a:t>
            </a:r>
          </a:p>
        </p:txBody>
      </p:sp>
      <p:sp>
        <p:nvSpPr>
          <p:cNvPr id="6" name="">
            <a:extLst xmlns:a="http://schemas.openxmlformats.org/drawingml/2006/main">
              <a:ext uri="{FF2B5EF4-FFF2-40B4-BE49-F238E27FC236}">
                <a16:creationId xmlns:a16="http://schemas.microsoft.com/office/drawing/2014/main" id="{59BC3ABE-CF42-489E-A193-87F3D91C0D18}"/>
              </a:ext>
            </a:extLst>
          </p:cNvPr>
          <p:cNvSpPr>
            <a:spLocks xmlns:a="http://schemas.openxmlformats.org/drawingml/2006/main" noGrp="1"/>
          </p:cNvSpPr>
          <p:nvPr/>
        </p:nvSpPr>
        <p:spPr>
          <a:xfrm xmlns:a="http://schemas.openxmlformats.org/drawingml/2006/main">
            <a:off x="4286250" y="4048125"/>
            <a:ext cx="2619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008CAB"/>
                </a:solidFill>
                <a:latin typeface="Arial"/>
                <a:ea typeface="Arial"/>
                <a:cs typeface="Arial"/>
              </a:defRPr>
            </a:pPr>
            <a:r>
              <a:rPr sz="5250" b="1">
                <a:solidFill>
                  <a:srgbClr val="008CAB"/>
                </a:solidFill>
                <a:latin typeface="Arial"/>
                <a:ea typeface="Arial"/>
                <a:cs typeface="Arial"/>
              </a:rPr>
              <a:t>0.92</a:t>
            </a:r>
          </a:p>
        </p:txBody>
      </p:sp>
      <p:sp>
        <p:nvSpPr>
          <p:cNvPr id="7" name="">
            <a:extLst xmlns:a="http://schemas.openxmlformats.org/drawingml/2006/main">
              <a:ext uri="{FF2B5EF4-FFF2-40B4-BE49-F238E27FC236}">
                <a16:creationId xmlns:a16="http://schemas.microsoft.com/office/drawing/2014/main" id="{A6D2184E-ADB2-4979-A2A2-D55473D83FB4}"/>
              </a:ext>
            </a:extLst>
          </p:cNvPr>
          <p:cNvSpPr>
            <a:spLocks xmlns:a="http://schemas.openxmlformats.org/drawingml/2006/main" noGrp="1"/>
          </p:cNvSpPr>
          <p:nvPr/>
        </p:nvSpPr>
        <p:spPr>
          <a:xfrm xmlns:a="http://schemas.openxmlformats.org/drawingml/2006/main">
            <a:off x="4305300" y="513397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E6077"/>
                </a:solidFill>
                <a:latin typeface="Arial"/>
                <a:ea typeface="Arial"/>
                <a:cs typeface="Arial"/>
              </a:defRPr>
            </a:pPr>
            <a:r>
              <a:rPr sz="1950" b="0">
                <a:solidFill>
                  <a:srgbClr val="4E6077"/>
                </a:solidFill>
                <a:latin typeface="Arial"/>
                <a:ea typeface="Arial"/>
                <a:cs typeface="Arial"/>
              </a:rPr>
              <a:t>R² with each cluster</a:t>
            </a:r>
          </a:p>
          <a:p xmlns:a="http://schemas.openxmlformats.org/drawingml/2006/main">
            <a:pPr>
              <a:defRPr sz="1950" b="0">
                <a:solidFill>
                  <a:srgbClr val="4E6077"/>
                </a:solidFill>
                <a:latin typeface="Arial"/>
                <a:ea typeface="Arial"/>
                <a:cs typeface="Arial"/>
              </a:defRPr>
            </a:pPr>
            <a:r>
              <a:rPr sz="1950" b="0">
                <a:solidFill>
                  <a:srgbClr val="4E6077"/>
                </a:solidFill>
                <a:latin typeface="Arial"/>
                <a:ea typeface="Arial"/>
                <a:cs typeface="Arial"/>
              </a:rPr>
              <a:t>held out in turn</a:t>
            </a:r>
          </a:p>
        </p:txBody>
      </p:sp>
      <p:sp>
        <p:nvSpPr>
          <p:cNvPr id="8" name="">
            <a:extLst xmlns:a="http://schemas.openxmlformats.org/drawingml/2006/main">
              <a:ext uri="{FF2B5EF4-FFF2-40B4-BE49-F238E27FC236}">
                <a16:creationId xmlns:a16="http://schemas.microsoft.com/office/drawing/2014/main" id="{7C5B26CB-E4DD-44B9-945A-711895B9E74B}"/>
              </a:ext>
            </a:extLst>
          </p:cNvPr>
          <p:cNvSpPr>
            <a:spLocks xmlns:a="http://schemas.openxmlformats.org/drawingml/2006/main" noGrp="1"/>
          </p:cNvSpPr>
          <p:nvPr/>
        </p:nvSpPr>
        <p:spPr>
          <a:xfrm xmlns:a="http://schemas.openxmlformats.org/drawingml/2006/main">
            <a:off x="7962900" y="1819275"/>
            <a:ext cx="35337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B1730"/>
                </a:solidFill>
                <a:latin typeface="Arial"/>
                <a:ea typeface="Arial"/>
                <a:cs typeface="Arial"/>
              </a:defRPr>
            </a:pPr>
            <a:r>
              <a:rPr sz="2550" b="1">
                <a:solidFill>
                  <a:srgbClr val="0B1730"/>
                </a:solidFill>
                <a:latin typeface="Arial"/>
                <a:ea typeface="Arial"/>
                <a:cs typeface="Arial"/>
              </a:rPr>
              <a:t>Gemini explanations</a:t>
            </a:r>
          </a:p>
        </p:txBody>
      </p:sp>
      <p:sp>
        <p:nvSpPr>
          <p:cNvPr id="9" name="">
            <a:extLst xmlns:a="http://schemas.openxmlformats.org/drawingml/2006/main">
              <a:ext uri="{FF2B5EF4-FFF2-40B4-BE49-F238E27FC236}">
                <a16:creationId xmlns:a16="http://schemas.microsoft.com/office/drawing/2014/main" id="{1C50B8F7-D7B9-482B-9AE7-8A52D99CBABD}"/>
              </a:ext>
            </a:extLst>
          </p:cNvPr>
          <p:cNvSpPr>
            <a:spLocks xmlns:a="http://schemas.openxmlformats.org/drawingml/2006/main" noGrp="1"/>
          </p:cNvSpPr>
          <p:nvPr/>
        </p:nvSpPr>
        <p:spPr>
          <a:xfrm xmlns:a="http://schemas.openxmlformats.org/drawingml/2006/main">
            <a:off x="7962900" y="2762250"/>
            <a:ext cx="35337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E6077"/>
                </a:solidFill>
                <a:latin typeface="Arial"/>
                <a:ea typeface="Arial"/>
                <a:cs typeface="Arial"/>
              </a:defRPr>
            </a:pPr>
            <a:r>
              <a:rPr sz="2025" b="0">
                <a:solidFill>
                  <a:srgbClr val="4E6077"/>
                </a:solidFill>
                <a:latin typeface="Arial"/>
                <a:ea typeface="Arial"/>
                <a:cs typeface="Arial"/>
              </a:rPr>
              <a:t>Receives computed scores</a:t>
            </a:r>
          </a:p>
          <a:p xmlns:a="http://schemas.openxmlformats.org/drawingml/2006/main">
            <a:pPr>
              <a:defRPr sz="2025" b="0">
                <a:solidFill>
                  <a:srgbClr val="4E6077"/>
                </a:solidFill>
                <a:latin typeface="Arial"/>
                <a:ea typeface="Arial"/>
                <a:cs typeface="Arial"/>
              </a:defRPr>
            </a:pPr>
            <a:r>
              <a:rPr sz="2025" b="0">
                <a:solidFill>
                  <a:srgbClr val="4E6077"/>
                </a:solidFill>
                <a:latin typeface="Arial"/>
                <a:ea typeface="Arial"/>
                <a:cs typeface="Arial"/>
              </a:rPr>
              <a:t>and benchmark results</a:t>
            </a:r>
          </a:p>
          <a:p xmlns:a="http://schemas.openxmlformats.org/drawingml/2006/main">
            <a:r>
              <a:t/>
            </a:r>
          </a:p>
          <a:p xmlns:a="http://schemas.openxmlformats.org/drawingml/2006/main">
            <a:pPr>
              <a:defRPr sz="2025" b="0">
                <a:solidFill>
                  <a:srgbClr val="4E6077"/>
                </a:solidFill>
                <a:latin typeface="Arial"/>
                <a:ea typeface="Arial"/>
                <a:cs typeface="Arial"/>
              </a:defRPr>
            </a:pPr>
            <a:r>
              <a:rPr sz="2025" b="0">
                <a:solidFill>
                  <a:srgbClr val="4E6077"/>
                </a:solidFill>
                <a:latin typeface="Arial"/>
                <a:ea typeface="Arial"/>
                <a:cs typeface="Arial"/>
              </a:rPr>
              <a:t>Explains the selected cluster</a:t>
            </a:r>
          </a:p>
          <a:p xmlns:a="http://schemas.openxmlformats.org/drawingml/2006/main">
            <a:r>
              <a:t/>
            </a:r>
          </a:p>
          <a:p xmlns:a="http://schemas.openxmlformats.org/drawingml/2006/main">
            <a:pPr>
              <a:defRPr sz="2025" b="0">
                <a:solidFill>
                  <a:srgbClr val="4E6077"/>
                </a:solidFill>
                <a:latin typeface="Arial"/>
                <a:ea typeface="Arial"/>
                <a:cs typeface="Arial"/>
              </a:defRPr>
            </a:pPr>
            <a:r>
              <a:rPr sz="2025" b="0">
                <a:solidFill>
                  <a:srgbClr val="4E6077"/>
                </a:solidFill>
                <a:latin typeface="Arial"/>
                <a:ea typeface="Arial"/>
                <a:cs typeface="Arial"/>
              </a:rPr>
              <a:t>A template handles API failure</a:t>
            </a:r>
          </a:p>
        </p:txBody>
      </p:sp>
      <p:sp>
        <p:nvSpPr>
          <p:cNvPr id="10" name="">
            <a:extLst xmlns:a="http://schemas.openxmlformats.org/drawingml/2006/main">
              <a:ext uri="{FF2B5EF4-FFF2-40B4-BE49-F238E27FC236}">
                <a16:creationId xmlns:a16="http://schemas.microsoft.com/office/drawing/2014/main" id="{3EAD7292-54C1-4657-9073-CB49AC0CBD9C}"/>
              </a:ext>
            </a:extLst>
          </p:cNvPr>
          <p:cNvSpPr>
            <a:spLocks xmlns:a="http://schemas.openxmlformats.org/drawingml/2006/main" noGrp="1"/>
          </p:cNvSpPr>
          <p:nvPr/>
        </p:nvSpPr>
        <p:spPr>
          <a:xfrm xmlns:a="http://schemas.openxmlformats.org/drawingml/2006/main">
            <a:off x="742950" y="6115050"/>
            <a:ext cx="1062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E6077"/>
                </a:solidFill>
                <a:latin typeface="Arial"/>
                <a:ea typeface="Arial"/>
                <a:cs typeface="Arial"/>
              </a:defRPr>
            </a:pPr>
            <a:r>
              <a:rPr sz="1650" b="0">
                <a:solidFill>
                  <a:srgbClr val="4E6077"/>
                </a:solidFill>
                <a:latin typeface="Arial"/>
                <a:ea typeface="Arial"/>
                <a:cs typeface="Arial"/>
              </a:rPr>
              <a:t>The benchmark compares lending with peers. Creditworthiness requires more evidence.</a:t>
            </a:r>
          </a:p>
        </p:txBody>
      </p:sp>
    </p:spTree>
    <p:extLst>
      <p:ext uri="{BB962C8B-B14F-4D97-AF65-F5344CB8AC3E}">
        <p14:creationId xmlns:p14="http://schemas.microsoft.com/office/powerpoint/2010/main" val="1604401810"/>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AAF1C78-4D38-41D5-AAD8-C4F48FC3FB12}"/>
              </a:ext>
            </a:extLst>
          </p:cNvPr>
          <p:cNvSpPr>
            <a:spLocks xmlns:a="http://schemas.openxmlformats.org/drawingml/2006/main" noGrp="1"/>
          </p:cNvSpPr>
          <p:nvPr/>
        </p:nvSpPr>
        <p:spPr>
          <a:xfrm xmlns:a="http://schemas.openxmlformats.org/drawingml/2006/main">
            <a:off x="628650" y="4953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B1730"/>
                </a:solidFill>
                <a:latin typeface="Arial"/>
                <a:ea typeface="Arial"/>
                <a:cs typeface="Arial"/>
              </a:defRPr>
            </a:pPr>
            <a:r>
              <a:rPr sz="3300" b="1">
                <a:solidFill>
                  <a:srgbClr val="0B1730"/>
                </a:solidFill>
                <a:latin typeface="Arial"/>
                <a:ea typeface="Arial"/>
                <a:cs typeface="Arial"/>
              </a:rPr>
              <a:t>A €1 million allocation simulator</a:t>
            </a:r>
          </a:p>
        </p:txBody>
      </p:sp>
      <p:sp>
        <p:nvSpPr>
          <p:cNvPr id="2" name="">
            <a:extLst xmlns:a="http://schemas.openxmlformats.org/drawingml/2006/main">
              <a:ext uri="{FF2B5EF4-FFF2-40B4-BE49-F238E27FC236}">
                <a16:creationId xmlns:a16="http://schemas.microsoft.com/office/drawing/2014/main" id="{F434C196-597F-42EE-98BF-E77913E1F5C1}"/>
              </a:ext>
            </a:extLst>
          </p:cNvPr>
          <p:cNvSpPr>
            <a:spLocks xmlns:a="http://schemas.openxmlformats.org/drawingml/2006/main" noGrp="1"/>
          </p:cNvSpPr>
          <p:nvPr/>
        </p:nvSpPr>
        <p:spPr>
          <a:xfrm xmlns:a="http://schemas.openxmlformats.org/drawingml/2006/main">
            <a:off x="714375" y="1666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8CAB"/>
                </a:solidFill>
                <a:latin typeface="Arial"/>
                <a:ea typeface="Arial"/>
                <a:cs typeface="Arial"/>
              </a:defRPr>
            </a:pPr>
            <a:r>
              <a:rPr sz="2400" b="1">
                <a:solidFill>
                  <a:srgbClr val="008CAB"/>
                </a:solidFill>
                <a:latin typeface="Arial"/>
                <a:ea typeface="Arial"/>
                <a:cs typeface="Arial"/>
              </a:rPr>
              <a:t>Four objectives change the ranking</a:t>
            </a:r>
          </a:p>
        </p:txBody>
      </p:sp>
      <p:sp>
        <p:nvSpPr>
          <p:cNvPr id="3" name="">
            <a:extLst xmlns:a="http://schemas.openxmlformats.org/drawingml/2006/main">
              <a:ext uri="{FF2B5EF4-FFF2-40B4-BE49-F238E27FC236}">
                <a16:creationId xmlns:a16="http://schemas.microsoft.com/office/drawing/2014/main" id="{B6E5D8D3-AF8D-4E6C-900A-6511AFF04A5A}"/>
              </a:ext>
            </a:extLst>
          </p:cNvPr>
          <p:cNvSpPr>
            <a:spLocks xmlns:a="http://schemas.openxmlformats.org/drawingml/2006/main" noGrp="1"/>
          </p:cNvSpPr>
          <p:nvPr/>
        </p:nvSpPr>
        <p:spPr>
          <a:xfrm xmlns:a="http://schemas.openxmlformats.org/drawingml/2006/main">
            <a:off x="723900" y="2686050"/>
            <a:ext cx="509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B1730"/>
                </a:solidFill>
                <a:latin typeface="Arial"/>
                <a:ea typeface="Arial"/>
                <a:cs typeface="Arial"/>
              </a:defRPr>
            </a:pPr>
            <a:r>
              <a:rPr sz="2325" b="1">
                <a:solidFill>
                  <a:srgbClr val="0B1730"/>
                </a:solidFill>
                <a:latin typeface="Arial"/>
                <a:ea typeface="Arial"/>
                <a:cs typeface="Arial"/>
              </a:rPr>
              <a:t>Underfinanced Areas</a:t>
            </a:r>
          </a:p>
        </p:txBody>
      </p:sp>
      <p:sp>
        <p:nvSpPr>
          <p:cNvPr id="4" name="">
            <a:extLst xmlns:a="http://schemas.openxmlformats.org/drawingml/2006/main">
              <a:ext uri="{FF2B5EF4-FFF2-40B4-BE49-F238E27FC236}">
                <a16:creationId xmlns:a16="http://schemas.microsoft.com/office/drawing/2014/main" id="{E763C867-EC90-4C95-9C30-59333679820F}"/>
              </a:ext>
            </a:extLst>
          </p:cNvPr>
          <p:cNvSpPr>
            <a:spLocks xmlns:a="http://schemas.openxmlformats.org/drawingml/2006/main" noGrp="1"/>
          </p:cNvSpPr>
          <p:nvPr/>
        </p:nvSpPr>
        <p:spPr>
          <a:xfrm xmlns:a="http://schemas.openxmlformats.org/drawingml/2006/main">
            <a:off x="723900" y="3286125"/>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E6077"/>
                </a:solidFill>
                <a:latin typeface="Arial"/>
                <a:ea typeface="Arial"/>
                <a:cs typeface="Arial"/>
              </a:defRPr>
            </a:pPr>
            <a:r>
              <a:rPr sz="1950" b="0">
                <a:solidFill>
                  <a:srgbClr val="4E6077"/>
                </a:solidFill>
                <a:latin typeface="Arial"/>
                <a:ea typeface="Arial"/>
                <a:cs typeface="Arial"/>
              </a:rPr>
              <a:t>Prioritize larger weighted financing deficits</a:t>
            </a:r>
          </a:p>
        </p:txBody>
      </p:sp>
      <p:sp>
        <p:nvSpPr>
          <p:cNvPr id="5" name="">
            <a:extLst xmlns:a="http://schemas.openxmlformats.org/drawingml/2006/main">
              <a:ext uri="{FF2B5EF4-FFF2-40B4-BE49-F238E27FC236}">
                <a16:creationId xmlns:a16="http://schemas.microsoft.com/office/drawing/2014/main" id="{64BF4D50-76D0-4336-A94D-724F8F30ED9E}"/>
              </a:ext>
            </a:extLst>
          </p:cNvPr>
          <p:cNvSpPr>
            <a:spLocks xmlns:a="http://schemas.openxmlformats.org/drawingml/2006/main" noGrp="1"/>
          </p:cNvSpPr>
          <p:nvPr/>
        </p:nvSpPr>
        <p:spPr>
          <a:xfrm xmlns:a="http://schemas.openxmlformats.org/drawingml/2006/main">
            <a:off x="6819900" y="26860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B1730"/>
                </a:solidFill>
                <a:latin typeface="Arial"/>
                <a:ea typeface="Arial"/>
                <a:cs typeface="Arial"/>
              </a:defRPr>
            </a:pPr>
            <a:r>
              <a:rPr sz="2325" b="1">
                <a:solidFill>
                  <a:srgbClr val="0B1730"/>
                </a:solidFill>
                <a:latin typeface="Arial"/>
                <a:ea typeface="Arial"/>
                <a:cs typeface="Arial"/>
              </a:rPr>
              <a:t>Growth</a:t>
            </a:r>
          </a:p>
        </p:txBody>
      </p:sp>
      <p:sp>
        <p:nvSpPr>
          <p:cNvPr id="6" name="">
            <a:extLst xmlns:a="http://schemas.openxmlformats.org/drawingml/2006/main">
              <a:ext uri="{FF2B5EF4-FFF2-40B4-BE49-F238E27FC236}">
                <a16:creationId xmlns:a16="http://schemas.microsoft.com/office/drawing/2014/main" id="{57B86980-7778-4AAD-9ED9-5954E5670835}"/>
              </a:ext>
            </a:extLst>
          </p:cNvPr>
          <p:cNvSpPr>
            <a:spLocks xmlns:a="http://schemas.openxmlformats.org/drawingml/2006/main" noGrp="1"/>
          </p:cNvSpPr>
          <p:nvPr/>
        </p:nvSpPr>
        <p:spPr>
          <a:xfrm xmlns:a="http://schemas.openxmlformats.org/drawingml/2006/main">
            <a:off x="6819900" y="3286125"/>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E6077"/>
                </a:solidFill>
                <a:latin typeface="Arial"/>
                <a:ea typeface="Arial"/>
                <a:cs typeface="Arial"/>
              </a:defRPr>
            </a:pPr>
            <a:r>
              <a:rPr sz="1950" b="0">
                <a:solidFill>
                  <a:srgbClr val="4E6077"/>
                </a:solidFill>
                <a:latin typeface="Arial"/>
                <a:ea typeface="Arial"/>
                <a:cs typeface="Arial"/>
              </a:rPr>
              <a:t>Prioritize stronger economic momentum</a:t>
            </a:r>
          </a:p>
        </p:txBody>
      </p:sp>
      <p:sp>
        <p:nvSpPr>
          <p:cNvPr id="7" name="">
            <a:extLst xmlns:a="http://schemas.openxmlformats.org/drawingml/2006/main">
              <a:ext uri="{FF2B5EF4-FFF2-40B4-BE49-F238E27FC236}">
                <a16:creationId xmlns:a16="http://schemas.microsoft.com/office/drawing/2014/main" id="{91F33FD5-8632-4F49-BD75-99D84F9975D2}"/>
              </a:ext>
            </a:extLst>
          </p:cNvPr>
          <p:cNvSpPr>
            <a:spLocks xmlns:a="http://schemas.openxmlformats.org/drawingml/2006/main" noGrp="1"/>
          </p:cNvSpPr>
          <p:nvPr/>
        </p:nvSpPr>
        <p:spPr>
          <a:xfrm xmlns:a="http://schemas.openxmlformats.org/drawingml/2006/main">
            <a:off x="723900" y="4305300"/>
            <a:ext cx="509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B1730"/>
                </a:solidFill>
                <a:latin typeface="Arial"/>
                <a:ea typeface="Arial"/>
                <a:cs typeface="Arial"/>
              </a:defRPr>
            </a:pPr>
            <a:r>
              <a:rPr sz="2325" b="1">
                <a:solidFill>
                  <a:srgbClr val="0B1730"/>
                </a:solidFill>
                <a:latin typeface="Arial"/>
                <a:ea typeface="Arial"/>
                <a:cs typeface="Arial"/>
              </a:rPr>
              <a:t>Low-Risk</a:t>
            </a:r>
          </a:p>
        </p:txBody>
      </p:sp>
      <p:sp>
        <p:nvSpPr>
          <p:cNvPr id="8" name="">
            <a:extLst xmlns:a="http://schemas.openxmlformats.org/drawingml/2006/main">
              <a:ext uri="{FF2B5EF4-FFF2-40B4-BE49-F238E27FC236}">
                <a16:creationId xmlns:a16="http://schemas.microsoft.com/office/drawing/2014/main" id="{869215BB-2092-4F39-A98F-B0FD121E0AF7}"/>
              </a:ext>
            </a:extLst>
          </p:cNvPr>
          <p:cNvSpPr>
            <a:spLocks xmlns:a="http://schemas.openxmlformats.org/drawingml/2006/main" noGrp="1"/>
          </p:cNvSpPr>
          <p:nvPr/>
        </p:nvSpPr>
        <p:spPr>
          <a:xfrm xmlns:a="http://schemas.openxmlformats.org/drawingml/2006/main">
            <a:off x="723900" y="4905375"/>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E6077"/>
                </a:solidFill>
                <a:latin typeface="Arial"/>
                <a:ea typeface="Arial"/>
                <a:cs typeface="Arial"/>
              </a:defRPr>
            </a:pPr>
            <a:r>
              <a:rPr sz="1950" b="0">
                <a:solidFill>
                  <a:srgbClr val="4E6077"/>
                </a:solidFill>
                <a:latin typeface="Arial"/>
                <a:ea typeface="Arial"/>
                <a:cs typeface="Arial"/>
              </a:rPr>
              <a:t>Use deposit and liquidity indicators</a:t>
            </a:r>
          </a:p>
        </p:txBody>
      </p:sp>
      <p:sp>
        <p:nvSpPr>
          <p:cNvPr id="9" name="">
            <a:extLst xmlns:a="http://schemas.openxmlformats.org/drawingml/2006/main">
              <a:ext uri="{FF2B5EF4-FFF2-40B4-BE49-F238E27FC236}">
                <a16:creationId xmlns:a16="http://schemas.microsoft.com/office/drawing/2014/main" id="{1F63C6EF-58E5-4DAE-AB0D-5391ECCD5237}"/>
              </a:ext>
            </a:extLst>
          </p:cNvPr>
          <p:cNvSpPr>
            <a:spLocks xmlns:a="http://schemas.openxmlformats.org/drawingml/2006/main" noGrp="1"/>
          </p:cNvSpPr>
          <p:nvPr/>
        </p:nvSpPr>
        <p:spPr>
          <a:xfrm xmlns:a="http://schemas.openxmlformats.org/drawingml/2006/main">
            <a:off x="6819900" y="430530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B1730"/>
                </a:solidFill>
                <a:latin typeface="Arial"/>
                <a:ea typeface="Arial"/>
                <a:cs typeface="Arial"/>
              </a:defRPr>
            </a:pPr>
            <a:r>
              <a:rPr sz="2325" b="1">
                <a:solidFill>
                  <a:srgbClr val="0B1730"/>
                </a:solidFill>
                <a:latin typeface="Arial"/>
                <a:ea typeface="Arial"/>
                <a:cs typeface="Arial"/>
              </a:rPr>
              <a:t>Diversification</a:t>
            </a:r>
          </a:p>
        </p:txBody>
      </p:sp>
      <p:sp>
        <p:nvSpPr>
          <p:cNvPr id="10" name="">
            <a:extLst xmlns:a="http://schemas.openxmlformats.org/drawingml/2006/main">
              <a:ext uri="{FF2B5EF4-FFF2-40B4-BE49-F238E27FC236}">
                <a16:creationId xmlns:a16="http://schemas.microsoft.com/office/drawing/2014/main" id="{5D281987-82EE-4C6A-B701-51DFCC130801}"/>
              </a:ext>
            </a:extLst>
          </p:cNvPr>
          <p:cNvSpPr>
            <a:spLocks xmlns:a="http://schemas.openxmlformats.org/drawingml/2006/main" noGrp="1"/>
          </p:cNvSpPr>
          <p:nvPr/>
        </p:nvSpPr>
        <p:spPr>
          <a:xfrm xmlns:a="http://schemas.openxmlformats.org/drawingml/2006/main">
            <a:off x="6819900" y="4905375"/>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E6077"/>
                </a:solidFill>
                <a:latin typeface="Arial"/>
                <a:ea typeface="Arial"/>
                <a:cs typeface="Arial"/>
              </a:defRPr>
            </a:pPr>
            <a:r>
              <a:rPr sz="1950" b="0">
                <a:solidFill>
                  <a:srgbClr val="4E6077"/>
                </a:solidFill>
                <a:latin typeface="Arial"/>
                <a:ea typeface="Arial"/>
                <a:cs typeface="Arial"/>
              </a:rPr>
              <a:t>Choose at most one position per province</a:t>
            </a:r>
          </a:p>
        </p:txBody>
      </p:sp>
      <p:sp>
        <p:nvSpPr>
          <p:cNvPr id="11" name="">
            <a:extLst xmlns:a="http://schemas.openxmlformats.org/drawingml/2006/main">
              <a:ext uri="{FF2B5EF4-FFF2-40B4-BE49-F238E27FC236}">
                <a16:creationId xmlns:a16="http://schemas.microsoft.com/office/drawing/2014/main" id="{4CE61A97-8A86-44C1-8E87-C394A19D3539}"/>
              </a:ext>
            </a:extLst>
          </p:cNvPr>
          <p:cNvSpPr>
            <a:spLocks xmlns:a="http://schemas.openxmlformats.org/drawingml/2006/main" noGrp="1"/>
          </p:cNvSpPr>
          <p:nvPr/>
        </p:nvSpPr>
        <p:spPr>
          <a:xfrm xmlns:a="http://schemas.openxmlformats.org/drawingml/2006/main">
            <a:off x="723900" y="6048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E6077"/>
                </a:solidFill>
                <a:latin typeface="Arial"/>
                <a:ea typeface="Arial"/>
                <a:cs typeface="Arial"/>
              </a:defRPr>
            </a:pPr>
            <a:r>
              <a:rPr sz="1725" b="0">
                <a:solidFill>
                  <a:srgbClr val="4E6077"/>
                </a:solidFill>
                <a:latin typeface="Arial"/>
                <a:ea typeface="Arial"/>
                <a:cs typeface="Arial"/>
              </a:rPr>
              <a:t>Rules select four clusters. The output supports scenario comparison and further due diligence.</a:t>
            </a:r>
          </a:p>
        </p:txBody>
      </p:sp>
    </p:spTree>
    <p:extLst>
      <p:ext uri="{BB962C8B-B14F-4D97-AF65-F5344CB8AC3E}">
        <p14:creationId xmlns:p14="http://schemas.microsoft.com/office/powerpoint/2010/main" val="3667095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2026-09-08T13:49:19.9100000Z</dcterms:created>
  <dcterms:modified xsi:type="dcterms:W3CDTF">2026-09-08T13:49:19.9100000Z</dcterms:modified>
</coreProperties>
</file>